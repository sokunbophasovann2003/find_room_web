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0F766E"/>
              </a:solidFill>
              <a:effectLst/>
            </c:spPr>
          </c:dPt>
          <c:dPt>
            <c:idx val="1"/>
            <c:bubble3D val="0"/>
            <c:spPr>
              <a:solidFill>
                <a:srgbClr val="115E59"/>
              </a:solidFill>
              <a:effectLst/>
            </c:spPr>
          </c:dPt>
          <c:dPt>
            <c:idx val="2"/>
            <c:bubble3D val="0"/>
            <c:spPr>
              <a:solidFill>
                <a:srgbClr val="F59E0B"/>
              </a:solidFill>
              <a:effectLst/>
            </c:spPr>
          </c:dPt>
          <c:dPt>
            <c:idx val="3"/>
            <c:bubble3D val="0"/>
            <c:spPr>
              <a:solidFill>
                <a:srgbClr val="64748B"/>
              </a:solidFill>
              <a:effectLst/>
            </c:spPr>
          </c:dPt>
          <c:dPt>
            <c:idx val="4"/>
            <c:bubble3D val="0"/>
            <c:spPr>
              <a:solidFill>
                <a:srgbClr val="94A3B8"/>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Marketing &amp; outreach</c:v>
                </c:pt>
                <c:pt idx="1">
                  <c:v>Backend engineer (3 mo)</c:v>
                </c:pt>
                <c:pt idx="2">
                  <c:v>Legal &amp; compliance</c:v>
                </c:pt>
                <c:pt idx="3">
                  <c:v>Infrastructure</c:v>
                </c:pt>
                <c:pt idx="4">
                  <c:v>Operations &amp; contingency</c:v>
                </c:pt>
              </c:strCache>
            </c:strRef>
          </c:cat>
          <c:val>
            <c:numRef>
              <c:f>Sheet1!$B$2:$B$6</c:f>
              <c:numCache>
                <c:ptCount val="5"/>
                <c:pt idx="0">
                  <c:v>2500</c:v>
                </c:pt>
                <c:pt idx="1">
                  <c:v>4000</c:v>
                </c:pt>
                <c:pt idx="2">
                  <c:v>1500</c:v>
                </c:pt>
                <c:pt idx="3">
                  <c:v>1000</c:v>
                </c:pt>
                <c:pt idx="4">
                  <c:v>1000</c:v>
                </c:pt>
              </c:numCache>
            </c:numRef>
          </c:val>
        </c:ser>
        <c:firstSliceAng val="0"/>
        <c:holeSize val="50"/>
      </c:doughnut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5E59"/>
        </a:solidFill>
      </p:bgPr>
    </p:bg>
    <p:spTree>
      <p:nvGrpSpPr>
        <p:cNvPr id="1" name=""/>
        <p:cNvGrpSpPr/>
        <p:nvPr/>
      </p:nvGrpSpPr>
      <p:grpSpPr>
        <a:xfrm>
          <a:off x="0" y="0"/>
          <a:ext cx="0" cy="0"/>
          <a:chOff x="0" y="0"/>
          <a:chExt cx="0" cy="0"/>
        </a:xfrm>
      </p:grpSpPr>
      <p:sp>
        <p:nvSpPr>
          <p:cNvPr id="2" name="Text 0"/>
          <p:cNvSpPr/>
          <p:nvPr/>
        </p:nvSpPr>
        <p:spPr>
          <a:xfrm>
            <a:off x="640080" y="2011680"/>
            <a:ext cx="10972800" cy="1645920"/>
          </a:xfrm>
          <a:prstGeom prst="rect">
            <a:avLst/>
          </a:prstGeom>
          <a:noFill/>
          <a:ln/>
        </p:spPr>
        <p:txBody>
          <a:bodyPr wrap="square" lIns="0" tIns="0" rIns="0" bIns="0" rtlCol="0" anchor="b"/>
          <a:lstStyle/>
          <a:p>
            <a:pPr indent="0" marL="0">
              <a:buNone/>
            </a:pPr>
            <a:r>
              <a:rPr lang="en-US" sz="12000" b="1" dirty="0">
                <a:solidFill>
                  <a:srgbClr val="FFFFFF"/>
                </a:solidFill>
                <a:latin typeface="Calibri" pitchFamily="34" charset="0"/>
                <a:ea typeface="Calibri" pitchFamily="34" charset="-122"/>
                <a:cs typeface="Calibri" pitchFamily="34" charset="-120"/>
              </a:rPr>
              <a:t>Joul</a:t>
            </a:r>
            <a:endParaRPr lang="en-US" sz="12000" dirty="0"/>
          </a:p>
        </p:txBody>
      </p:sp>
      <p:sp>
        <p:nvSpPr>
          <p:cNvPr id="3" name="Text 1"/>
          <p:cNvSpPr/>
          <p:nvPr/>
        </p:nvSpPr>
        <p:spPr>
          <a:xfrm>
            <a:off x="640080" y="3749040"/>
            <a:ext cx="10972800" cy="411480"/>
          </a:xfrm>
          <a:prstGeom prst="rect">
            <a:avLst/>
          </a:prstGeom>
          <a:noFill/>
          <a:ln/>
        </p:spPr>
        <p:txBody>
          <a:bodyPr wrap="square" lIns="0" tIns="0" rIns="0" bIns="0" rtlCol="0" anchor="t"/>
          <a:lstStyle/>
          <a:p>
            <a:pPr indent="0" marL="0">
              <a:buNone/>
            </a:pPr>
            <a:r>
              <a:rPr lang="en-US" sz="1400" i="1" dirty="0">
                <a:solidFill>
                  <a:srgbClr val="CCFBF1"/>
                </a:solidFill>
                <a:latin typeface="Calibri" pitchFamily="34" charset="0"/>
                <a:ea typeface="Calibri" pitchFamily="34" charset="-122"/>
                <a:cs typeface="Calibri" pitchFamily="34" charset="-120"/>
              </a:rPr>
              <a:t>From the Khmer word for "rent."</a:t>
            </a:r>
            <a:endParaRPr lang="en-US" sz="1400" dirty="0"/>
          </a:p>
        </p:txBody>
      </p:sp>
      <p:sp>
        <p:nvSpPr>
          <p:cNvPr id="4" name="Text 2"/>
          <p:cNvSpPr/>
          <p:nvPr/>
        </p:nvSpPr>
        <p:spPr>
          <a:xfrm>
            <a:off x="640080" y="4434840"/>
            <a:ext cx="10972800" cy="45720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Cambodia's room rental, simplified.</a:t>
            </a:r>
            <a:endParaRPr lang="en-US" sz="2400" dirty="0"/>
          </a:p>
        </p:txBody>
      </p:sp>
      <p:sp>
        <p:nvSpPr>
          <p:cNvPr id="5" name="Text 3"/>
          <p:cNvSpPr/>
          <p:nvPr/>
        </p:nvSpPr>
        <p:spPr>
          <a:xfrm>
            <a:off x="640080" y="4983480"/>
            <a:ext cx="10972800" cy="457200"/>
          </a:xfrm>
          <a:prstGeom prst="rect">
            <a:avLst/>
          </a:prstGeom>
          <a:noFill/>
          <a:ln/>
        </p:spPr>
        <p:txBody>
          <a:bodyPr wrap="square" lIns="0" tIns="0" rIns="0" bIns="0" rtlCol="0" anchor="ctr"/>
          <a:lstStyle/>
          <a:p>
            <a:pPr indent="0" marL="0">
              <a:buNone/>
            </a:pPr>
            <a:r>
              <a:rPr lang="en-US" sz="1400" dirty="0">
                <a:solidFill>
                  <a:srgbClr val="CCFBF1"/>
                </a:solidFill>
                <a:latin typeface="Calibri" pitchFamily="34" charset="0"/>
                <a:ea typeface="Calibri" pitchFamily="34" charset="-122"/>
                <a:cs typeface="Calibri" pitchFamily="34" charset="-120"/>
              </a:rPr>
              <a:t>A free, Khmer-first marketplace connecting room renters and room owners across Cambodia.</a:t>
            </a:r>
            <a:endParaRPr lang="en-US" sz="1400" dirty="0"/>
          </a:p>
        </p:txBody>
      </p:sp>
      <p:sp>
        <p:nvSpPr>
          <p:cNvPr id="6" name="Shape 4"/>
          <p:cNvSpPr/>
          <p:nvPr/>
        </p:nvSpPr>
        <p:spPr>
          <a:xfrm>
            <a:off x="640080" y="5852160"/>
            <a:ext cx="3657600" cy="0"/>
          </a:xfrm>
          <a:prstGeom prst="line">
            <a:avLst/>
          </a:prstGeom>
          <a:noFill/>
          <a:ln w="25400">
            <a:solidFill>
              <a:srgbClr val="F59E0B"/>
            </a:solidFill>
            <a:prstDash val="solid"/>
          </a:ln>
        </p:spPr>
      </p:sp>
      <p:sp>
        <p:nvSpPr>
          <p:cNvPr id="7" name="Text 5"/>
          <p:cNvSpPr/>
          <p:nvPr/>
        </p:nvSpPr>
        <p:spPr>
          <a:xfrm>
            <a:off x="640080" y="5943600"/>
            <a:ext cx="7315200" cy="320040"/>
          </a:xfrm>
          <a:prstGeom prst="rect">
            <a:avLst/>
          </a:prstGeom>
          <a:noFill/>
          <a:ln/>
        </p:spPr>
        <p:txBody>
          <a:bodyPr wrap="square" lIns="0" tIns="0" rIns="0" bIns="0" rtlCol="0" anchor="ctr"/>
          <a:lstStyle/>
          <a:p>
            <a:pPr indent="0" marL="0">
              <a:buNone/>
            </a:pPr>
            <a:r>
              <a:rPr lang="en-US" sz="1100" b="1" spc="400" kern="0" dirty="0">
                <a:solidFill>
                  <a:srgbClr val="CCFBF1"/>
                </a:solidFill>
                <a:latin typeface="Calibri" pitchFamily="34" charset="0"/>
                <a:ea typeface="Calibri" pitchFamily="34" charset="-122"/>
                <a:cs typeface="Calibri" pitchFamily="34" charset="-120"/>
              </a:rPr>
              <a:t>PITCH DECK   |   GRANT APPLICATION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Finding a room in Cambodia is broken.</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Both sides of the market are wasting time, money, and trust.</a:t>
            </a:r>
            <a:endParaRPr lang="en-US" sz="1400" dirty="0"/>
          </a:p>
        </p:txBody>
      </p:sp>
      <p:sp>
        <p:nvSpPr>
          <p:cNvPr id="5" name="Shape 3"/>
          <p:cNvSpPr/>
          <p:nvPr/>
        </p:nvSpPr>
        <p:spPr>
          <a:xfrm>
            <a:off x="457200" y="1645920"/>
            <a:ext cx="3657600" cy="4389120"/>
          </a:xfrm>
          <a:prstGeom prst="rect">
            <a:avLst/>
          </a:prstGeom>
          <a:solidFill>
            <a:srgbClr val="F8FAFC"/>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6" name="Shape 4"/>
          <p:cNvSpPr/>
          <p:nvPr/>
        </p:nvSpPr>
        <p:spPr>
          <a:xfrm>
            <a:off x="457200" y="1645920"/>
            <a:ext cx="3657600" cy="73152"/>
          </a:xfrm>
          <a:prstGeom prst="rect">
            <a:avLst/>
          </a:prstGeom>
          <a:solidFill>
            <a:srgbClr val="0F766E"/>
          </a:solidFill>
          <a:ln w="12700">
            <a:solidFill>
              <a:srgbClr val="0F766E"/>
            </a:solidFill>
            <a:prstDash val="solid"/>
          </a:ln>
        </p:spPr>
      </p:sp>
      <p:sp>
        <p:nvSpPr>
          <p:cNvPr id="7" name="Text 5"/>
          <p:cNvSpPr/>
          <p:nvPr/>
        </p:nvSpPr>
        <p:spPr>
          <a:xfrm>
            <a:off x="777240" y="1874520"/>
            <a:ext cx="3017520" cy="320040"/>
          </a:xfrm>
          <a:prstGeom prst="rect">
            <a:avLst/>
          </a:prstGeom>
          <a:noFill/>
          <a:ln/>
        </p:spPr>
        <p:txBody>
          <a:bodyPr wrap="square" lIns="0" tIns="0" rIns="0" bIns="0" rtlCol="0" anchor="ctr"/>
          <a:lstStyle/>
          <a:p>
            <a:pPr indent="0" marL="0">
              <a:buNone/>
            </a:pPr>
            <a:r>
              <a:rPr lang="en-US" sz="1100" b="1" spc="300" kern="0" dirty="0">
                <a:solidFill>
                  <a:srgbClr val="0F766E"/>
                </a:solidFill>
                <a:latin typeface="Calibri" pitchFamily="34" charset="0"/>
                <a:ea typeface="Calibri" pitchFamily="34" charset="-122"/>
                <a:cs typeface="Calibri" pitchFamily="34" charset="-120"/>
              </a:rPr>
              <a:t>FOR RENTERS</a:t>
            </a:r>
            <a:endParaRPr lang="en-US" sz="1100" dirty="0"/>
          </a:p>
        </p:txBody>
      </p:sp>
      <p:sp>
        <p:nvSpPr>
          <p:cNvPr id="8" name="Text 6"/>
          <p:cNvSpPr/>
          <p:nvPr/>
        </p:nvSpPr>
        <p:spPr>
          <a:xfrm>
            <a:off x="777240" y="2286000"/>
            <a:ext cx="3017520" cy="12801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Hours of scrolling. No real answers.</a:t>
            </a:r>
            <a:endParaRPr lang="en-US" sz="1800" dirty="0"/>
          </a:p>
        </p:txBody>
      </p:sp>
      <p:sp>
        <p:nvSpPr>
          <p:cNvPr id="9" name="Text 7"/>
          <p:cNvSpPr/>
          <p:nvPr/>
        </p:nvSpPr>
        <p:spPr>
          <a:xfrm>
            <a:off x="777240" y="3657600"/>
            <a:ext cx="3017520" cy="21945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Students and young workers spend days searching Facebook groups for room listings. Most posts are outdated. Many are scams. Tenants often physically travel just to find out the room was rented weeks ago.</a:t>
            </a:r>
            <a:endParaRPr lang="en-US" sz="1200" dirty="0"/>
          </a:p>
        </p:txBody>
      </p:sp>
      <p:sp>
        <p:nvSpPr>
          <p:cNvPr id="10" name="Shape 8"/>
          <p:cNvSpPr/>
          <p:nvPr/>
        </p:nvSpPr>
        <p:spPr>
          <a:xfrm>
            <a:off x="4297680" y="1645920"/>
            <a:ext cx="3657600" cy="4389120"/>
          </a:xfrm>
          <a:prstGeom prst="rect">
            <a:avLst/>
          </a:prstGeom>
          <a:solidFill>
            <a:srgbClr val="F8FAFC"/>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11" name="Shape 9"/>
          <p:cNvSpPr/>
          <p:nvPr/>
        </p:nvSpPr>
        <p:spPr>
          <a:xfrm>
            <a:off x="4297680" y="1645920"/>
            <a:ext cx="3657600" cy="73152"/>
          </a:xfrm>
          <a:prstGeom prst="rect">
            <a:avLst/>
          </a:prstGeom>
          <a:solidFill>
            <a:srgbClr val="0F766E"/>
          </a:solidFill>
          <a:ln w="12700">
            <a:solidFill>
              <a:srgbClr val="0F766E"/>
            </a:solidFill>
            <a:prstDash val="solid"/>
          </a:ln>
        </p:spPr>
      </p:sp>
      <p:sp>
        <p:nvSpPr>
          <p:cNvPr id="12" name="Text 10"/>
          <p:cNvSpPr/>
          <p:nvPr/>
        </p:nvSpPr>
        <p:spPr>
          <a:xfrm>
            <a:off x="4617720" y="1874520"/>
            <a:ext cx="3017520" cy="320040"/>
          </a:xfrm>
          <a:prstGeom prst="rect">
            <a:avLst/>
          </a:prstGeom>
          <a:noFill/>
          <a:ln/>
        </p:spPr>
        <p:txBody>
          <a:bodyPr wrap="square" lIns="0" tIns="0" rIns="0" bIns="0" rtlCol="0" anchor="ctr"/>
          <a:lstStyle/>
          <a:p>
            <a:pPr indent="0" marL="0">
              <a:buNone/>
            </a:pPr>
            <a:r>
              <a:rPr lang="en-US" sz="1100" b="1" spc="300" kern="0" dirty="0">
                <a:solidFill>
                  <a:srgbClr val="0F766E"/>
                </a:solidFill>
                <a:latin typeface="Calibri" pitchFamily="34" charset="0"/>
                <a:ea typeface="Calibri" pitchFamily="34" charset="-122"/>
                <a:cs typeface="Calibri" pitchFamily="34" charset="-120"/>
              </a:rPr>
              <a:t>FOR LANDLORDS</a:t>
            </a:r>
            <a:endParaRPr lang="en-US" sz="1100" dirty="0"/>
          </a:p>
        </p:txBody>
      </p:sp>
      <p:sp>
        <p:nvSpPr>
          <p:cNvPr id="13" name="Text 11"/>
          <p:cNvSpPr/>
          <p:nvPr/>
        </p:nvSpPr>
        <p:spPr>
          <a:xfrm>
            <a:off x="4617720" y="2286000"/>
            <a:ext cx="3017520" cy="12801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Expensive agencies. Paper signs that fade.</a:t>
            </a:r>
            <a:endParaRPr lang="en-US" sz="1800" dirty="0"/>
          </a:p>
        </p:txBody>
      </p:sp>
      <p:sp>
        <p:nvSpPr>
          <p:cNvPr id="14" name="Text 12"/>
          <p:cNvSpPr/>
          <p:nvPr/>
        </p:nvSpPr>
        <p:spPr>
          <a:xfrm>
            <a:off x="4617720" y="3657600"/>
            <a:ext cx="3017520" cy="21945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Small landlords pay agencies one month's rent in commission or print signs that fade in the rain. Facebook posts disappear within hours under newer content. There is no way to manage multiple rooms in one place.</a:t>
            </a:r>
            <a:endParaRPr lang="en-US" sz="1200" dirty="0"/>
          </a:p>
        </p:txBody>
      </p:sp>
      <p:sp>
        <p:nvSpPr>
          <p:cNvPr id="15" name="Shape 13"/>
          <p:cNvSpPr/>
          <p:nvPr/>
        </p:nvSpPr>
        <p:spPr>
          <a:xfrm>
            <a:off x="8138160" y="1645920"/>
            <a:ext cx="3657600" cy="4389120"/>
          </a:xfrm>
          <a:prstGeom prst="rect">
            <a:avLst/>
          </a:prstGeom>
          <a:solidFill>
            <a:srgbClr val="F8FAFC"/>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16" name="Shape 14"/>
          <p:cNvSpPr/>
          <p:nvPr/>
        </p:nvSpPr>
        <p:spPr>
          <a:xfrm>
            <a:off x="8138160" y="1645920"/>
            <a:ext cx="3657600" cy="73152"/>
          </a:xfrm>
          <a:prstGeom prst="rect">
            <a:avLst/>
          </a:prstGeom>
          <a:solidFill>
            <a:srgbClr val="0F766E"/>
          </a:solidFill>
          <a:ln w="12700">
            <a:solidFill>
              <a:srgbClr val="0F766E"/>
            </a:solidFill>
            <a:prstDash val="solid"/>
          </a:ln>
        </p:spPr>
      </p:sp>
      <p:sp>
        <p:nvSpPr>
          <p:cNvPr id="17" name="Text 15"/>
          <p:cNvSpPr/>
          <p:nvPr/>
        </p:nvSpPr>
        <p:spPr>
          <a:xfrm>
            <a:off x="8458200" y="1874520"/>
            <a:ext cx="3017520" cy="320040"/>
          </a:xfrm>
          <a:prstGeom prst="rect">
            <a:avLst/>
          </a:prstGeom>
          <a:noFill/>
          <a:ln/>
        </p:spPr>
        <p:txBody>
          <a:bodyPr wrap="square" lIns="0" tIns="0" rIns="0" bIns="0" rtlCol="0" anchor="ctr"/>
          <a:lstStyle/>
          <a:p>
            <a:pPr indent="0" marL="0">
              <a:buNone/>
            </a:pPr>
            <a:r>
              <a:rPr lang="en-US" sz="1100" b="1" spc="300" kern="0" dirty="0">
                <a:solidFill>
                  <a:srgbClr val="0F766E"/>
                </a:solidFill>
                <a:latin typeface="Calibri" pitchFamily="34" charset="0"/>
                <a:ea typeface="Calibri" pitchFamily="34" charset="-122"/>
                <a:cs typeface="Calibri" pitchFamily="34" charset="-120"/>
              </a:rPr>
              <a:t>FOR THE MARKET</a:t>
            </a:r>
            <a:endParaRPr lang="en-US" sz="1100" dirty="0"/>
          </a:p>
        </p:txBody>
      </p:sp>
      <p:sp>
        <p:nvSpPr>
          <p:cNvPr id="18" name="Text 16"/>
          <p:cNvSpPr/>
          <p:nvPr/>
        </p:nvSpPr>
        <p:spPr>
          <a:xfrm>
            <a:off x="8458200" y="2286000"/>
            <a:ext cx="3017520" cy="12801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No central place. No real-time data. No trust.</a:t>
            </a:r>
            <a:endParaRPr lang="en-US" sz="1800" dirty="0"/>
          </a:p>
        </p:txBody>
      </p:sp>
      <p:sp>
        <p:nvSpPr>
          <p:cNvPr id="19" name="Text 17"/>
          <p:cNvSpPr/>
          <p:nvPr/>
        </p:nvSpPr>
        <p:spPr>
          <a:xfrm>
            <a:off x="8458200" y="3657600"/>
            <a:ext cx="3017520" cy="21945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Cambodia has no purpose-built rental platform for ordinary rooms. Pricing is opaque. Inventory is invisible. Rooms sit empty while renters can't find them. The whole market runs on guesswork.</a:t>
            </a:r>
            <a:endParaRPr lang="en-US" sz="1200" dirty="0"/>
          </a:p>
        </p:txBody>
      </p:sp>
      <p:sp>
        <p:nvSpPr>
          <p:cNvPr id="20" name="Text 18"/>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21" name="Text 19"/>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Joul is the answer.</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A purpose-built, Khmer-first rental marketplace for Cambodia.</a:t>
            </a:r>
            <a:endParaRPr lang="en-US" sz="1400" dirty="0"/>
          </a:p>
        </p:txBody>
      </p:sp>
      <p:sp>
        <p:nvSpPr>
          <p:cNvPr id="5" name="Text 3"/>
          <p:cNvSpPr/>
          <p:nvPr/>
        </p:nvSpPr>
        <p:spPr>
          <a:xfrm>
            <a:off x="640080" y="1737360"/>
            <a:ext cx="5943600" cy="548640"/>
          </a:xfrm>
          <a:prstGeom prst="rect">
            <a:avLst/>
          </a:prstGeom>
          <a:noFill/>
          <a:ln/>
        </p:spPr>
        <p:txBody>
          <a:bodyPr wrap="square" lIns="0" tIns="0" rIns="0" bIns="0" rtlCol="0" anchor="t"/>
          <a:lstStyle/>
          <a:p>
            <a:pPr indent="0" marL="0">
              <a:buNone/>
            </a:pPr>
            <a:r>
              <a:rPr lang="en-US" sz="2200" b="1" dirty="0">
                <a:solidFill>
                  <a:srgbClr val="0F172A"/>
                </a:solidFill>
                <a:latin typeface="Calibri" pitchFamily="34" charset="0"/>
                <a:ea typeface="Calibri" pitchFamily="34" charset="-122"/>
                <a:cs typeface="Calibri" pitchFamily="34" charset="-120"/>
              </a:rPr>
              <a:t>Joul connects room renters and room owners in one place — for free.</a:t>
            </a:r>
            <a:endParaRPr lang="en-US" sz="2200" dirty="0"/>
          </a:p>
        </p:txBody>
      </p:sp>
      <p:sp>
        <p:nvSpPr>
          <p:cNvPr id="6" name="Text 4"/>
          <p:cNvSpPr/>
          <p:nvPr/>
        </p:nvSpPr>
        <p:spPr>
          <a:xfrm>
            <a:off x="640080" y="2560320"/>
            <a:ext cx="5943600" cy="2743200"/>
          </a:xfrm>
          <a:prstGeom prst="rect">
            <a:avLst/>
          </a:prstGeom>
          <a:noFill/>
          <a:ln/>
        </p:spPr>
        <p:txBody>
          <a:bodyPr wrap="square" lIns="0" tIns="0" rIns="0" bIns="0" rtlCol="0" anchor="t"/>
          <a:lstStyle/>
          <a:p>
            <a:pPr indent="0" marL="0">
              <a:spcAft>
                <a:spcPts val="800"/>
              </a:spcAft>
              <a:buNone/>
            </a:pPr>
            <a:r>
              <a:rPr lang="en-US" sz="1400" dirty="0">
                <a:solidFill>
                  <a:srgbClr val="64748B"/>
                </a:solidFill>
                <a:latin typeface="Calibri" pitchFamily="34" charset="0"/>
                <a:ea typeface="Calibri" pitchFamily="34" charset="-122"/>
                <a:cs typeface="Calibri" pitchFamily="34" charset="-120"/>
              </a:rPr>
              <a:t>Landlords list their rooms once. Renters find them with smart search and real-time availability — no ghost listings, no agency fees, no wasted trips.</a:t>
            </a:r>
            <a:endParaRPr lang="en-US" sz="1400" dirty="0"/>
          </a:p>
          <a:p>
            <a:pPr indent="0" marL="0">
              <a:spcAft>
                <a:spcPts val="800"/>
              </a:spcAft>
              <a:buNone/>
            </a:pPr>
            <a:endParaRPr lang="en-US" sz="1400" dirty="0"/>
          </a:p>
          <a:p>
            <a:pPr indent="0" marL="0">
              <a:spcAft>
                <a:spcPts val="800"/>
              </a:spcAft>
              <a:buNone/>
            </a:pPr>
            <a:r>
              <a:rPr lang="en-US" sz="1400" dirty="0">
                <a:solidFill>
                  <a:srgbClr val="64748B"/>
                </a:solidFill>
                <a:latin typeface="Calibri" pitchFamily="34" charset="0"/>
                <a:ea typeface="Calibri" pitchFamily="34" charset="-122"/>
                <a:cs typeface="Calibri" pitchFamily="34" charset="-120"/>
              </a:rPr>
              <a:t>Every user on Joul can be both a renter and a landlord, reflecting how small Cambodian property owners actually behave.</a:t>
            </a:r>
            <a:endParaRPr lang="en-US" sz="1400" dirty="0"/>
          </a:p>
        </p:txBody>
      </p:sp>
      <p:sp>
        <p:nvSpPr>
          <p:cNvPr id="7" name="Shape 5"/>
          <p:cNvSpPr/>
          <p:nvPr/>
        </p:nvSpPr>
        <p:spPr>
          <a:xfrm>
            <a:off x="6949440" y="1828800"/>
            <a:ext cx="457200" cy="457200"/>
          </a:xfrm>
          <a:prstGeom prst="ellipse">
            <a:avLst/>
          </a:prstGeom>
          <a:solidFill>
            <a:srgbClr val="0F766E"/>
          </a:solidFill>
          <a:ln w="12700">
            <a:solidFill>
              <a:srgbClr val="0F766E"/>
            </a:solidFill>
            <a:prstDash val="solid"/>
          </a:ln>
        </p:spPr>
      </p:sp>
      <p:sp>
        <p:nvSpPr>
          <p:cNvPr id="8" name="Text 6"/>
          <p:cNvSpPr/>
          <p:nvPr/>
        </p:nvSpPr>
        <p:spPr>
          <a:xfrm>
            <a:off x="6949440" y="1828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7589520" y="1783080"/>
            <a:ext cx="411480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Free for everyone</a:t>
            </a:r>
            <a:endParaRPr lang="en-US" sz="1600" dirty="0"/>
          </a:p>
        </p:txBody>
      </p:sp>
      <p:sp>
        <p:nvSpPr>
          <p:cNvPr id="10" name="Text 8"/>
          <p:cNvSpPr/>
          <p:nvPr/>
        </p:nvSpPr>
        <p:spPr>
          <a:xfrm>
            <a:off x="7589520" y="2194560"/>
            <a:ext cx="4114800" cy="7772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No listing fees, no commissions, no subscription. Always.</a:t>
            </a:r>
            <a:endParaRPr lang="en-US" sz="1200" dirty="0"/>
          </a:p>
        </p:txBody>
      </p:sp>
      <p:sp>
        <p:nvSpPr>
          <p:cNvPr id="11" name="Shape 9"/>
          <p:cNvSpPr/>
          <p:nvPr/>
        </p:nvSpPr>
        <p:spPr>
          <a:xfrm>
            <a:off x="6949440" y="3108960"/>
            <a:ext cx="457200" cy="457200"/>
          </a:xfrm>
          <a:prstGeom prst="ellipse">
            <a:avLst/>
          </a:prstGeom>
          <a:solidFill>
            <a:srgbClr val="0F766E"/>
          </a:solidFill>
          <a:ln w="12700">
            <a:solidFill>
              <a:srgbClr val="0F766E"/>
            </a:solidFill>
            <a:prstDash val="solid"/>
          </a:ln>
        </p:spPr>
      </p:sp>
      <p:sp>
        <p:nvSpPr>
          <p:cNvPr id="12" name="Text 10"/>
          <p:cNvSpPr/>
          <p:nvPr/>
        </p:nvSpPr>
        <p:spPr>
          <a:xfrm>
            <a:off x="694944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7589520" y="3063240"/>
            <a:ext cx="411480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Real-time availability</a:t>
            </a:r>
            <a:endParaRPr lang="en-US" sz="1600" dirty="0"/>
          </a:p>
        </p:txBody>
      </p:sp>
      <p:sp>
        <p:nvSpPr>
          <p:cNvPr id="14" name="Text 12"/>
          <p:cNvSpPr/>
          <p:nvPr/>
        </p:nvSpPr>
        <p:spPr>
          <a:xfrm>
            <a:off x="7589520" y="3474720"/>
            <a:ext cx="4114800" cy="7772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Every listing is clearly marked Available or Occupied. Occupied rooms are hidden from renters.</a:t>
            </a:r>
            <a:endParaRPr lang="en-US" sz="1200" dirty="0"/>
          </a:p>
        </p:txBody>
      </p:sp>
      <p:sp>
        <p:nvSpPr>
          <p:cNvPr id="15" name="Shape 13"/>
          <p:cNvSpPr/>
          <p:nvPr/>
        </p:nvSpPr>
        <p:spPr>
          <a:xfrm>
            <a:off x="6949440" y="4389120"/>
            <a:ext cx="457200" cy="457200"/>
          </a:xfrm>
          <a:prstGeom prst="ellipse">
            <a:avLst/>
          </a:prstGeom>
          <a:solidFill>
            <a:srgbClr val="0F766E"/>
          </a:solidFill>
          <a:ln w="12700">
            <a:solidFill>
              <a:srgbClr val="0F766E"/>
            </a:solidFill>
            <a:prstDash val="solid"/>
          </a:ln>
        </p:spPr>
      </p:sp>
      <p:sp>
        <p:nvSpPr>
          <p:cNvPr id="16" name="Text 14"/>
          <p:cNvSpPr/>
          <p:nvPr/>
        </p:nvSpPr>
        <p:spPr>
          <a:xfrm>
            <a:off x="6949440" y="4389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7589520" y="4343400"/>
            <a:ext cx="411480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Khmer-first by default</a:t>
            </a:r>
            <a:endParaRPr lang="en-US" sz="1600" dirty="0"/>
          </a:p>
        </p:txBody>
      </p:sp>
      <p:sp>
        <p:nvSpPr>
          <p:cNvPr id="18" name="Text 16"/>
          <p:cNvSpPr/>
          <p:nvPr/>
        </p:nvSpPr>
        <p:spPr>
          <a:xfrm>
            <a:off x="7589520" y="4754880"/>
            <a:ext cx="4114800" cy="7772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Built in Khmer. Designed for mobile. Made for how Cambodians actually browse and rent.</a:t>
            </a:r>
            <a:endParaRPr lang="en-US" sz="1200" dirty="0"/>
          </a:p>
        </p:txBody>
      </p:sp>
      <p:sp>
        <p:nvSpPr>
          <p:cNvPr id="19" name="Text 17"/>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20" name="Text 18"/>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Built, tested, ready to launch.</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Working prototype with 16 screens, multi-language UI, and full landlord and renter flows.</a:t>
            </a:r>
            <a:endParaRPr lang="en-US" sz="1400" dirty="0"/>
          </a:p>
        </p:txBody>
      </p:sp>
      <p:sp>
        <p:nvSpPr>
          <p:cNvPr id="5" name="Shape 3"/>
          <p:cNvSpPr/>
          <p:nvPr/>
        </p:nvSpPr>
        <p:spPr>
          <a:xfrm>
            <a:off x="768096" y="1636776"/>
            <a:ext cx="1883349" cy="3950208"/>
          </a:xfrm>
          <a:prstGeom prst="roundRect">
            <a:avLst>
              <a:gd name="adj" fmla="val 5826"/>
            </a:avLst>
          </a:prstGeom>
          <a:solidFill>
            <a:srgbClr val="0F172A"/>
          </a:solidFill>
          <a:ln w="12700">
            <a:solidFill>
              <a:srgbClr val="0F172A"/>
            </a:solidFill>
            <a:prstDash val="solid"/>
          </a:ln>
        </p:spPr>
      </p:sp>
      <p:pic>
        <p:nvPicPr>
          <p:cNvPr id="6" name="Image 0" descr="/sessions/charming-vibrant-thompson/mnt/outputs/joul_screenshots/30_mobile_explore.png">    </p:cNvPr>
          <p:cNvPicPr>
            <a:picLocks noChangeAspect="1"/>
          </p:cNvPicPr>
          <p:nvPr/>
        </p:nvPicPr>
        <p:blipFill>
          <a:blip r:embed="rId1"/>
          <a:stretch>
            <a:fillRect/>
          </a:stretch>
        </p:blipFill>
        <p:spPr>
          <a:xfrm>
            <a:off x="822960" y="1691640"/>
            <a:ext cx="1773621" cy="3840480"/>
          </a:xfrm>
          <a:prstGeom prst="rect">
            <a:avLst/>
          </a:prstGeom>
        </p:spPr>
      </p:pic>
      <p:sp>
        <p:nvSpPr>
          <p:cNvPr id="7" name="Text 4"/>
          <p:cNvSpPr/>
          <p:nvPr/>
        </p:nvSpPr>
        <p:spPr>
          <a:xfrm>
            <a:off x="365760" y="5715000"/>
            <a:ext cx="2688021"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Explore</a:t>
            </a:r>
            <a:endParaRPr lang="en-US" sz="1300" dirty="0"/>
          </a:p>
        </p:txBody>
      </p:sp>
      <p:sp>
        <p:nvSpPr>
          <p:cNvPr id="8" name="Text 5"/>
          <p:cNvSpPr/>
          <p:nvPr/>
        </p:nvSpPr>
        <p:spPr>
          <a:xfrm>
            <a:off x="365760" y="5989320"/>
            <a:ext cx="2688021"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Search and filter</a:t>
            </a:r>
            <a:endParaRPr lang="en-US" sz="1000" dirty="0"/>
          </a:p>
        </p:txBody>
      </p:sp>
      <p:sp>
        <p:nvSpPr>
          <p:cNvPr id="9" name="Shape 6"/>
          <p:cNvSpPr/>
          <p:nvPr/>
        </p:nvSpPr>
        <p:spPr>
          <a:xfrm>
            <a:off x="3181797" y="1636776"/>
            <a:ext cx="1883349" cy="3950208"/>
          </a:xfrm>
          <a:prstGeom prst="roundRect">
            <a:avLst>
              <a:gd name="adj" fmla="val 5826"/>
            </a:avLst>
          </a:prstGeom>
          <a:solidFill>
            <a:srgbClr val="0F172A"/>
          </a:solidFill>
          <a:ln w="12700">
            <a:solidFill>
              <a:srgbClr val="0F172A"/>
            </a:solidFill>
            <a:prstDash val="solid"/>
          </a:ln>
        </p:spPr>
      </p:sp>
      <p:pic>
        <p:nvPicPr>
          <p:cNvPr id="10" name="Image 1" descr="/sessions/charming-vibrant-thompson/mnt/outputs/joul_screenshots/31_mobile_room_detail.png">    </p:cNvPr>
          <p:cNvPicPr>
            <a:picLocks noChangeAspect="1"/>
          </p:cNvPicPr>
          <p:nvPr/>
        </p:nvPicPr>
        <p:blipFill>
          <a:blip r:embed="rId2"/>
          <a:stretch>
            <a:fillRect/>
          </a:stretch>
        </p:blipFill>
        <p:spPr>
          <a:xfrm>
            <a:off x="3236661" y="1691640"/>
            <a:ext cx="1773621" cy="3840480"/>
          </a:xfrm>
          <a:prstGeom prst="rect">
            <a:avLst/>
          </a:prstGeom>
        </p:spPr>
      </p:pic>
      <p:sp>
        <p:nvSpPr>
          <p:cNvPr id="11" name="Text 7"/>
          <p:cNvSpPr/>
          <p:nvPr/>
        </p:nvSpPr>
        <p:spPr>
          <a:xfrm>
            <a:off x="2779461" y="5715000"/>
            <a:ext cx="2688021"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Room Detail</a:t>
            </a:r>
            <a:endParaRPr lang="en-US" sz="1300" dirty="0"/>
          </a:p>
        </p:txBody>
      </p:sp>
      <p:sp>
        <p:nvSpPr>
          <p:cNvPr id="12" name="Text 8"/>
          <p:cNvSpPr/>
          <p:nvPr/>
        </p:nvSpPr>
        <p:spPr>
          <a:xfrm>
            <a:off x="2779461" y="5989320"/>
            <a:ext cx="2688021"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Full info + contact</a:t>
            </a:r>
            <a:endParaRPr lang="en-US" sz="1000" dirty="0"/>
          </a:p>
        </p:txBody>
      </p:sp>
      <p:sp>
        <p:nvSpPr>
          <p:cNvPr id="13" name="Shape 9"/>
          <p:cNvSpPr/>
          <p:nvPr/>
        </p:nvSpPr>
        <p:spPr>
          <a:xfrm>
            <a:off x="6236208" y="1892808"/>
            <a:ext cx="5266944" cy="3346704"/>
          </a:xfrm>
          <a:prstGeom prst="rect">
            <a:avLst/>
          </a:prstGeom>
          <a:solidFill>
            <a:srgbClr val="0F172A"/>
          </a:solidFill>
          <a:ln w="12700">
            <a:solidFill>
              <a:srgbClr val="0F172A"/>
            </a:solidFill>
            <a:prstDash val="solid"/>
          </a:ln>
        </p:spPr>
      </p:sp>
      <p:pic>
        <p:nvPicPr>
          <p:cNvPr id="14" name="Image 2" descr="/sessions/charming-vibrant-thompson/mnt/outputs/joul_screenshots/50_explore_khmer.png">    </p:cNvPr>
          <p:cNvPicPr>
            <a:picLocks noChangeAspect="1"/>
          </p:cNvPicPr>
          <p:nvPr/>
        </p:nvPicPr>
        <p:blipFill>
          <a:blip r:embed="rId3"/>
          <a:stretch>
            <a:fillRect/>
          </a:stretch>
        </p:blipFill>
        <p:spPr>
          <a:xfrm>
            <a:off x="6309360" y="1965960"/>
            <a:ext cx="5120640" cy="3200400"/>
          </a:xfrm>
          <a:prstGeom prst="rect">
            <a:avLst/>
          </a:prstGeom>
        </p:spPr>
      </p:pic>
      <p:sp>
        <p:nvSpPr>
          <p:cNvPr id="15" name="Text 10"/>
          <p:cNvSpPr/>
          <p:nvPr/>
        </p:nvSpPr>
        <p:spPr>
          <a:xfrm>
            <a:off x="6309360" y="5349240"/>
            <a:ext cx="5120640" cy="27432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Khmer-first UI</a:t>
            </a:r>
            <a:endParaRPr lang="en-US" sz="1300" dirty="0"/>
          </a:p>
        </p:txBody>
      </p:sp>
      <p:sp>
        <p:nvSpPr>
          <p:cNvPr id="16" name="Text 11"/>
          <p:cNvSpPr/>
          <p:nvPr/>
        </p:nvSpPr>
        <p:spPr>
          <a:xfrm>
            <a:off x="6309360" y="5623560"/>
            <a:ext cx="51206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Khmer is the default language for Cambodian users; English available</a:t>
            </a:r>
            <a:endParaRPr lang="en-US" sz="1000" dirty="0"/>
          </a:p>
        </p:txBody>
      </p:sp>
      <p:sp>
        <p:nvSpPr>
          <p:cNvPr id="17" name="Text 12"/>
          <p:cNvSpPr/>
          <p:nvPr/>
        </p:nvSpPr>
        <p:spPr>
          <a:xfrm>
            <a:off x="457200" y="6126480"/>
            <a:ext cx="1124712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Note: prototype currently shows 'FindRoom.KH' branding; rebranding to Joul ahead of public launch.</a:t>
            </a:r>
            <a:endParaRPr lang="en-US" sz="900" dirty="0"/>
          </a:p>
        </p:txBody>
      </p:sp>
      <p:sp>
        <p:nvSpPr>
          <p:cNvPr id="18" name="Text 13"/>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19" name="Text 14"/>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Real impact for real Cambodians.</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Who Joul helps, why it matters, and what changes when it works.</a:t>
            </a:r>
            <a:endParaRPr lang="en-US" sz="1400" dirty="0"/>
          </a:p>
        </p:txBody>
      </p:sp>
      <p:sp>
        <p:nvSpPr>
          <p:cNvPr id="5" name="Shape 3"/>
          <p:cNvSpPr/>
          <p:nvPr/>
        </p:nvSpPr>
        <p:spPr>
          <a:xfrm>
            <a:off x="457200" y="1828800"/>
            <a:ext cx="3749040" cy="4023360"/>
          </a:xfrm>
          <a:prstGeom prst="rect">
            <a:avLst/>
          </a:prstGeom>
          <a:solidFill>
            <a:srgbClr val="F8FAFC"/>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6" name="Text 4"/>
          <p:cNvSpPr/>
          <p:nvPr/>
        </p:nvSpPr>
        <p:spPr>
          <a:xfrm>
            <a:off x="731520" y="2194560"/>
            <a:ext cx="3200400" cy="10058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50,000+</a:t>
            </a:r>
            <a:endParaRPr lang="en-US" sz="4800" dirty="0"/>
          </a:p>
        </p:txBody>
      </p:sp>
      <p:sp>
        <p:nvSpPr>
          <p:cNvPr id="7" name="Text 5"/>
          <p:cNvSpPr/>
          <p:nvPr/>
        </p:nvSpPr>
        <p:spPr>
          <a:xfrm>
            <a:off x="731520" y="3246120"/>
            <a:ext cx="3200400" cy="64008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Students relocating to Phnom Penh each year</a:t>
            </a:r>
            <a:endParaRPr lang="en-US" sz="1400" dirty="0"/>
          </a:p>
        </p:txBody>
      </p:sp>
      <p:sp>
        <p:nvSpPr>
          <p:cNvPr id="8" name="Text 6"/>
          <p:cNvSpPr/>
          <p:nvPr/>
        </p:nvSpPr>
        <p:spPr>
          <a:xfrm>
            <a:off x="731520" y="3977640"/>
            <a:ext cx="3200400" cy="17373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Joul gives them a faster, safer way to find a room before they arrive — without depending on relatives or Facebook scams.</a:t>
            </a:r>
            <a:endParaRPr lang="en-US" sz="1200" dirty="0"/>
          </a:p>
        </p:txBody>
      </p:sp>
      <p:sp>
        <p:nvSpPr>
          <p:cNvPr id="9" name="Shape 7"/>
          <p:cNvSpPr/>
          <p:nvPr/>
        </p:nvSpPr>
        <p:spPr>
          <a:xfrm>
            <a:off x="4389120" y="1828800"/>
            <a:ext cx="3749040" cy="4023360"/>
          </a:xfrm>
          <a:prstGeom prst="rect">
            <a:avLst/>
          </a:prstGeom>
          <a:solidFill>
            <a:srgbClr val="F8FAFC"/>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10" name="Text 8"/>
          <p:cNvSpPr/>
          <p:nvPr/>
        </p:nvSpPr>
        <p:spPr>
          <a:xfrm>
            <a:off x="4663440" y="2194560"/>
            <a:ext cx="3200400" cy="10058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200,000+</a:t>
            </a:r>
            <a:endParaRPr lang="en-US" sz="4800" dirty="0"/>
          </a:p>
        </p:txBody>
      </p:sp>
      <p:sp>
        <p:nvSpPr>
          <p:cNvPr id="11" name="Text 9"/>
          <p:cNvSpPr/>
          <p:nvPr/>
        </p:nvSpPr>
        <p:spPr>
          <a:xfrm>
            <a:off x="4663440" y="3246120"/>
            <a:ext cx="3200400" cy="64008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Young workers and migrants in Phnom Penh</a:t>
            </a:r>
            <a:endParaRPr lang="en-US" sz="1400" dirty="0"/>
          </a:p>
        </p:txBody>
      </p:sp>
      <p:sp>
        <p:nvSpPr>
          <p:cNvPr id="12" name="Text 10"/>
          <p:cNvSpPr/>
          <p:nvPr/>
        </p:nvSpPr>
        <p:spPr>
          <a:xfrm>
            <a:off x="4663440" y="3977640"/>
            <a:ext cx="3200400" cy="17373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Factory workers, NGO staff, and first-time professionals all need affordable rooms. Joul makes that search transparent and free.</a:t>
            </a:r>
            <a:endParaRPr lang="en-US" sz="1200" dirty="0"/>
          </a:p>
        </p:txBody>
      </p:sp>
      <p:sp>
        <p:nvSpPr>
          <p:cNvPr id="13" name="Shape 11"/>
          <p:cNvSpPr/>
          <p:nvPr/>
        </p:nvSpPr>
        <p:spPr>
          <a:xfrm>
            <a:off x="8321040" y="1828800"/>
            <a:ext cx="3749040" cy="4023360"/>
          </a:xfrm>
          <a:prstGeom prst="rect">
            <a:avLst/>
          </a:prstGeom>
          <a:solidFill>
            <a:srgbClr val="F8FAFC"/>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14" name="Text 12"/>
          <p:cNvSpPr/>
          <p:nvPr/>
        </p:nvSpPr>
        <p:spPr>
          <a:xfrm>
            <a:off x="8595360" y="2194560"/>
            <a:ext cx="3200400" cy="1005840"/>
          </a:xfrm>
          <a:prstGeom prst="rect">
            <a:avLst/>
          </a:prstGeom>
          <a:noFill/>
          <a:ln/>
        </p:spPr>
        <p:txBody>
          <a:bodyPr wrap="square" lIns="0" tIns="0" rIns="0" bIns="0" rtlCol="0" anchor="ctr"/>
          <a:lstStyle/>
          <a:p>
            <a:pPr indent="0" marL="0">
              <a:buNone/>
            </a:pPr>
            <a:r>
              <a:rPr lang="en-US" sz="4800" b="1" dirty="0">
                <a:solidFill>
                  <a:srgbClr val="0F766E"/>
                </a:solidFill>
                <a:latin typeface="Calibri" pitchFamily="34" charset="0"/>
                <a:ea typeface="Calibri" pitchFamily="34" charset="-122"/>
                <a:cs typeface="Calibri" pitchFamily="34" charset="-120"/>
              </a:rPr>
              <a:t>10,000+</a:t>
            </a:r>
            <a:endParaRPr lang="en-US" sz="4800" dirty="0"/>
          </a:p>
        </p:txBody>
      </p:sp>
      <p:sp>
        <p:nvSpPr>
          <p:cNvPr id="15" name="Text 13"/>
          <p:cNvSpPr/>
          <p:nvPr/>
        </p:nvSpPr>
        <p:spPr>
          <a:xfrm>
            <a:off x="8595360" y="3246120"/>
            <a:ext cx="3200400" cy="64008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Small landlords across Cambodia</a:t>
            </a:r>
            <a:endParaRPr lang="en-US" sz="1400" dirty="0"/>
          </a:p>
        </p:txBody>
      </p:sp>
      <p:sp>
        <p:nvSpPr>
          <p:cNvPr id="16" name="Text 14"/>
          <p:cNvSpPr/>
          <p:nvPr/>
        </p:nvSpPr>
        <p:spPr>
          <a:xfrm>
            <a:off x="8595360" y="3977640"/>
            <a:ext cx="3200400" cy="17373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Most own just 1-5 rooms. Joul replaces expensive agencies and paper signs with a free, permanent digital listing.</a:t>
            </a:r>
            <a:endParaRPr lang="en-US" sz="1200" dirty="0"/>
          </a:p>
        </p:txBody>
      </p:sp>
      <p:sp>
        <p:nvSpPr>
          <p:cNvPr id="17" name="Text 15"/>
          <p:cNvSpPr/>
          <p:nvPr/>
        </p:nvSpPr>
        <p:spPr>
          <a:xfrm>
            <a:off x="457200" y="6080760"/>
            <a:ext cx="11247120" cy="32004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Figures are rough estimates derived from National Institute of Statistics data and university enrollment trends; figures will be refined as Joul launches and gathers real usage data.</a:t>
            </a:r>
            <a:endParaRPr lang="en-US" sz="900" dirty="0"/>
          </a:p>
        </p:txBody>
      </p:sp>
      <p:sp>
        <p:nvSpPr>
          <p:cNvPr id="18" name="Text 16"/>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19" name="Text 17"/>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A real market, still unowned.</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Estimated PropTech opportunity in Cambodia.</a:t>
            </a:r>
            <a:endParaRPr lang="en-US" sz="1400" dirty="0"/>
          </a:p>
        </p:txBody>
      </p:sp>
      <p:sp>
        <p:nvSpPr>
          <p:cNvPr id="5" name="Shape 3"/>
          <p:cNvSpPr/>
          <p:nvPr/>
        </p:nvSpPr>
        <p:spPr>
          <a:xfrm>
            <a:off x="640080" y="1828800"/>
            <a:ext cx="6400800" cy="4206240"/>
          </a:xfrm>
          <a:prstGeom prst="rect">
            <a:avLst/>
          </a:prstGeom>
          <a:solidFill>
            <a:srgbClr val="F1F5F9"/>
          </a:solidFill>
          <a:ln w="12700">
            <a:solidFill>
              <a:srgbClr val="E2E8F0"/>
            </a:solidFill>
            <a:prstDash val="solid"/>
          </a:ln>
        </p:spPr>
      </p:sp>
      <p:sp>
        <p:nvSpPr>
          <p:cNvPr id="6" name="Text 4"/>
          <p:cNvSpPr/>
          <p:nvPr/>
        </p:nvSpPr>
        <p:spPr>
          <a:xfrm>
            <a:off x="914400" y="2011680"/>
            <a:ext cx="5852160" cy="411480"/>
          </a:xfrm>
          <a:prstGeom prst="rect">
            <a:avLst/>
          </a:prstGeom>
          <a:noFill/>
          <a:ln/>
        </p:spPr>
        <p:txBody>
          <a:bodyPr wrap="square" lIns="0" tIns="0" rIns="0" bIns="0" rtlCol="0" anchor="ctr"/>
          <a:lstStyle/>
          <a:p>
            <a:pPr indent="0" marL="0">
              <a:buNone/>
            </a:pPr>
            <a:r>
              <a:rPr lang="en-US" sz="1800" b="1" dirty="0">
                <a:solidFill>
                  <a:srgbClr val="64748B"/>
                </a:solidFill>
                <a:latin typeface="Calibri" pitchFamily="34" charset="0"/>
                <a:ea typeface="Calibri" pitchFamily="34" charset="-122"/>
                <a:cs typeface="Calibri" pitchFamily="34" charset="-120"/>
              </a:rPr>
              <a:t>TAM   ~$2.4B</a:t>
            </a:r>
            <a:endParaRPr lang="en-US" sz="1800" dirty="0"/>
          </a:p>
        </p:txBody>
      </p:sp>
      <p:sp>
        <p:nvSpPr>
          <p:cNvPr id="7" name="Text 5"/>
          <p:cNvSpPr/>
          <p:nvPr/>
        </p:nvSpPr>
        <p:spPr>
          <a:xfrm>
            <a:off x="914400" y="2423160"/>
            <a:ext cx="585216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Total Addressable Market — Southeast Asia PropTech rental segment</a:t>
            </a:r>
            <a:endParaRPr lang="en-US" sz="1000" dirty="0"/>
          </a:p>
        </p:txBody>
      </p:sp>
      <p:sp>
        <p:nvSpPr>
          <p:cNvPr id="8" name="Shape 6"/>
          <p:cNvSpPr/>
          <p:nvPr/>
        </p:nvSpPr>
        <p:spPr>
          <a:xfrm>
            <a:off x="1554480" y="3108960"/>
            <a:ext cx="4572000" cy="2377440"/>
          </a:xfrm>
          <a:prstGeom prst="rect">
            <a:avLst/>
          </a:prstGeom>
          <a:solidFill>
            <a:srgbClr val="CCFBF1"/>
          </a:solidFill>
          <a:ln w="12700">
            <a:solidFill>
              <a:srgbClr val="0F766E"/>
            </a:solidFill>
            <a:prstDash val="solid"/>
          </a:ln>
        </p:spPr>
      </p:sp>
      <p:sp>
        <p:nvSpPr>
          <p:cNvPr id="9" name="Text 7"/>
          <p:cNvSpPr/>
          <p:nvPr/>
        </p:nvSpPr>
        <p:spPr>
          <a:xfrm>
            <a:off x="1828800" y="3291840"/>
            <a:ext cx="4023360" cy="411480"/>
          </a:xfrm>
          <a:prstGeom prst="rect">
            <a:avLst/>
          </a:prstGeom>
          <a:noFill/>
          <a:ln/>
        </p:spPr>
        <p:txBody>
          <a:bodyPr wrap="square" lIns="0" tIns="0" rIns="0" bIns="0" rtlCol="0" anchor="ctr"/>
          <a:lstStyle/>
          <a:p>
            <a:pPr indent="0" marL="0">
              <a:buNone/>
            </a:pPr>
            <a:r>
              <a:rPr lang="en-US" sz="1800" b="1" dirty="0">
                <a:solidFill>
                  <a:srgbClr val="115E59"/>
                </a:solidFill>
                <a:latin typeface="Calibri" pitchFamily="34" charset="0"/>
                <a:ea typeface="Calibri" pitchFamily="34" charset="-122"/>
                <a:cs typeface="Calibri" pitchFamily="34" charset="-120"/>
              </a:rPr>
              <a:t>SAM   ~$320M</a:t>
            </a:r>
            <a:endParaRPr lang="en-US" sz="1800" dirty="0"/>
          </a:p>
        </p:txBody>
      </p:sp>
      <p:sp>
        <p:nvSpPr>
          <p:cNvPr id="10" name="Text 8"/>
          <p:cNvSpPr/>
          <p:nvPr/>
        </p:nvSpPr>
        <p:spPr>
          <a:xfrm>
            <a:off x="1828800" y="3703320"/>
            <a:ext cx="4023360" cy="320040"/>
          </a:xfrm>
          <a:prstGeom prst="rect">
            <a:avLst/>
          </a:prstGeom>
          <a:noFill/>
          <a:ln/>
        </p:spPr>
        <p:txBody>
          <a:bodyPr wrap="square" lIns="0" tIns="0" rIns="0" bIns="0" rtlCol="0" anchor="ctr"/>
          <a:lstStyle/>
          <a:p>
            <a:pPr indent="0" marL="0">
              <a:buNone/>
            </a:pPr>
            <a:r>
              <a:rPr lang="en-US" sz="1000" i="1" dirty="0">
                <a:solidFill>
                  <a:srgbClr val="115E59"/>
                </a:solidFill>
                <a:latin typeface="Calibri" pitchFamily="34" charset="0"/>
                <a:ea typeface="Calibri" pitchFamily="34" charset="-122"/>
                <a:cs typeface="Calibri" pitchFamily="34" charset="-120"/>
              </a:rPr>
              <a:t>Serviceable Available Market — Cambodia urban rental (all types)</a:t>
            </a:r>
            <a:endParaRPr lang="en-US" sz="1000" dirty="0"/>
          </a:p>
        </p:txBody>
      </p:sp>
      <p:sp>
        <p:nvSpPr>
          <p:cNvPr id="11" name="Shape 9"/>
          <p:cNvSpPr/>
          <p:nvPr/>
        </p:nvSpPr>
        <p:spPr>
          <a:xfrm>
            <a:off x="2194560" y="4023360"/>
            <a:ext cx="3291840" cy="1097280"/>
          </a:xfrm>
          <a:prstGeom prst="rect">
            <a:avLst/>
          </a:prstGeom>
          <a:solidFill>
            <a:srgbClr val="0F766E"/>
          </a:solidFill>
          <a:ln w="12700">
            <a:solidFill>
              <a:srgbClr val="0F766E"/>
            </a:solidFill>
            <a:prstDash val="solid"/>
          </a:ln>
        </p:spPr>
      </p:sp>
      <p:sp>
        <p:nvSpPr>
          <p:cNvPr id="12" name="Text 10"/>
          <p:cNvSpPr/>
          <p:nvPr/>
        </p:nvSpPr>
        <p:spPr>
          <a:xfrm>
            <a:off x="2377440" y="4206240"/>
            <a:ext cx="292608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SOM   ~$18M</a:t>
            </a:r>
            <a:endParaRPr lang="en-US" sz="2200" dirty="0"/>
          </a:p>
        </p:txBody>
      </p:sp>
      <p:sp>
        <p:nvSpPr>
          <p:cNvPr id="13" name="Text 11"/>
          <p:cNvSpPr/>
          <p:nvPr/>
        </p:nvSpPr>
        <p:spPr>
          <a:xfrm>
            <a:off x="2377440" y="4754880"/>
            <a:ext cx="2926080" cy="731520"/>
          </a:xfrm>
          <a:prstGeom prst="rect">
            <a:avLst/>
          </a:prstGeom>
          <a:noFill/>
          <a:ln/>
        </p:spPr>
        <p:txBody>
          <a:bodyPr wrap="square" lIns="0" tIns="0" rIns="0" bIns="0" rtlCol="0" anchor="t"/>
          <a:lstStyle/>
          <a:p>
            <a:pPr indent="0" marL="0">
              <a:buNone/>
            </a:pPr>
            <a:r>
              <a:rPr lang="en-US" sz="1100" i="1" dirty="0">
                <a:solidFill>
                  <a:srgbClr val="FFFFFF"/>
                </a:solidFill>
                <a:latin typeface="Calibri" pitchFamily="34" charset="0"/>
                <a:ea typeface="Calibri" pitchFamily="34" charset="-122"/>
                <a:cs typeface="Calibri" pitchFamily="34" charset="-120"/>
              </a:rPr>
              <a:t>Phnom Penh room rental</a:t>
            </a:r>
            <a:endParaRPr lang="en-US" sz="1100" dirty="0"/>
          </a:p>
          <a:p>
            <a:pPr indent="0" marL="0">
              <a:buNone/>
            </a:pPr>
            <a:r>
              <a:rPr lang="en-US" sz="1100" i="1" dirty="0">
                <a:solidFill>
                  <a:srgbClr val="FFFFFF"/>
                </a:solidFill>
                <a:latin typeface="Calibri" pitchFamily="34" charset="0"/>
                <a:ea typeface="Calibri" pitchFamily="34" charset="-122"/>
                <a:cs typeface="Calibri" pitchFamily="34" charset="-120"/>
              </a:rPr>
              <a:t>(Year 1-3 target)</a:t>
            </a:r>
            <a:endParaRPr lang="en-US" sz="1100" dirty="0"/>
          </a:p>
        </p:txBody>
      </p:sp>
      <p:sp>
        <p:nvSpPr>
          <p:cNvPr id="14" name="Text 12"/>
          <p:cNvSpPr/>
          <p:nvPr/>
        </p:nvSpPr>
        <p:spPr>
          <a:xfrm>
            <a:off x="7498080" y="1828800"/>
            <a:ext cx="420624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How the numbers break down</a:t>
            </a:r>
            <a:endParaRPr lang="en-US" sz="1400" dirty="0"/>
          </a:p>
        </p:txBody>
      </p:sp>
      <p:sp>
        <p:nvSpPr>
          <p:cNvPr id="15" name="Text 13"/>
          <p:cNvSpPr/>
          <p:nvPr/>
        </p:nvSpPr>
        <p:spPr>
          <a:xfrm>
            <a:off x="7498080" y="2286000"/>
            <a:ext cx="420624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Cambodia urban population: ~4.25M</a:t>
            </a:r>
            <a:endParaRPr lang="en-US" sz="1200" dirty="0"/>
          </a:p>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Phnom Penh population: ~2.5M, growing</a:t>
            </a:r>
            <a:endParaRPr lang="en-US" sz="1200" dirty="0"/>
          </a:p>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Avg room rent: $60-$250/month</a:t>
            </a:r>
            <a:endParaRPr lang="en-US" sz="1200" dirty="0"/>
          </a:p>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Youth median age: ~27</a:t>
            </a:r>
            <a:endParaRPr lang="en-US" sz="1200" dirty="0"/>
          </a:p>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Internet users: 9M+ (53%+ penetration)</a:t>
            </a:r>
            <a:endParaRPr lang="en-US" sz="1200" dirty="0"/>
          </a:p>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Smartphone penetration: 70%+</a:t>
            </a:r>
            <a:endParaRPr lang="en-US" sz="1200" dirty="0"/>
          </a:p>
        </p:txBody>
      </p:sp>
      <p:sp>
        <p:nvSpPr>
          <p:cNvPr id="16" name="Text 14"/>
          <p:cNvSpPr/>
          <p:nvPr/>
        </p:nvSpPr>
        <p:spPr>
          <a:xfrm>
            <a:off x="640080" y="6126480"/>
            <a:ext cx="1106424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Numbers are estimates based on National Institute of Statistics data, regional PropTech benchmarks, and primary research. Will be refined through validation.</a:t>
            </a:r>
            <a:endParaRPr lang="en-US" sz="900" dirty="0"/>
          </a:p>
        </p:txBody>
      </p:sp>
      <p:sp>
        <p:nvSpPr>
          <p:cNvPr id="17" name="Text 15"/>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18" name="Text 16"/>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Three forces. One window.</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Why this is the right moment to launch a Cambodian rental marketplace.</a:t>
            </a:r>
            <a:endParaRPr lang="en-US" sz="1400" dirty="0"/>
          </a:p>
        </p:txBody>
      </p:sp>
      <p:sp>
        <p:nvSpPr>
          <p:cNvPr id="5" name="Shape 3"/>
          <p:cNvSpPr/>
          <p:nvPr/>
        </p:nvSpPr>
        <p:spPr>
          <a:xfrm>
            <a:off x="457200" y="1691640"/>
            <a:ext cx="3749040" cy="4206240"/>
          </a:xfrm>
          <a:prstGeom prst="rect">
            <a:avLst/>
          </a:prstGeom>
          <a:solidFill>
            <a:srgbClr val="FFFFFF"/>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6" name="Text 4"/>
          <p:cNvSpPr/>
          <p:nvPr/>
        </p:nvSpPr>
        <p:spPr>
          <a:xfrm>
            <a:off x="731520" y="1965960"/>
            <a:ext cx="3200400" cy="1005840"/>
          </a:xfrm>
          <a:prstGeom prst="rect">
            <a:avLst/>
          </a:prstGeom>
          <a:noFill/>
          <a:ln/>
        </p:spPr>
        <p:txBody>
          <a:bodyPr wrap="square" lIns="0" tIns="0" rIns="0" bIns="0" rtlCol="0" anchor="ctr"/>
          <a:lstStyle/>
          <a:p>
            <a:pPr indent="0" marL="0">
              <a:buNone/>
            </a:pPr>
            <a:r>
              <a:rPr lang="en-US" sz="5600" b="1" dirty="0">
                <a:solidFill>
                  <a:srgbClr val="CCFBF1"/>
                </a:solidFill>
                <a:latin typeface="Calibri" pitchFamily="34" charset="0"/>
                <a:ea typeface="Calibri" pitchFamily="34" charset="-122"/>
                <a:cs typeface="Calibri" pitchFamily="34" charset="-120"/>
              </a:rPr>
              <a:t>01</a:t>
            </a:r>
            <a:endParaRPr lang="en-US" sz="5600" dirty="0"/>
          </a:p>
        </p:txBody>
      </p:sp>
      <p:sp>
        <p:nvSpPr>
          <p:cNvPr id="7" name="Text 5"/>
          <p:cNvSpPr/>
          <p:nvPr/>
        </p:nvSpPr>
        <p:spPr>
          <a:xfrm>
            <a:off x="731520" y="3063240"/>
            <a:ext cx="3200400" cy="91440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Digital adoption is accelerating</a:t>
            </a:r>
            <a:endParaRPr lang="en-US" sz="1800" dirty="0"/>
          </a:p>
        </p:txBody>
      </p:sp>
      <p:sp>
        <p:nvSpPr>
          <p:cNvPr id="8" name="Text 6"/>
          <p:cNvSpPr/>
          <p:nvPr/>
        </p:nvSpPr>
        <p:spPr>
          <a:xfrm>
            <a:off x="731520" y="4023360"/>
            <a:ext cx="3200400" cy="17373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Cambodia has 9M+ internet users, 70%+ smartphone penetration, and one of the highest Facebook penetration rates in Asia per capita. Cambodian youth are mobile-first and comfortable with digital platforms.</a:t>
            </a:r>
            <a:endParaRPr lang="en-US" sz="1200" dirty="0"/>
          </a:p>
        </p:txBody>
      </p:sp>
      <p:sp>
        <p:nvSpPr>
          <p:cNvPr id="9" name="Shape 7"/>
          <p:cNvSpPr/>
          <p:nvPr/>
        </p:nvSpPr>
        <p:spPr>
          <a:xfrm>
            <a:off x="4389120" y="1691640"/>
            <a:ext cx="3749040" cy="4206240"/>
          </a:xfrm>
          <a:prstGeom prst="rect">
            <a:avLst/>
          </a:prstGeom>
          <a:solidFill>
            <a:srgbClr val="FFFFFF"/>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10" name="Text 8"/>
          <p:cNvSpPr/>
          <p:nvPr/>
        </p:nvSpPr>
        <p:spPr>
          <a:xfrm>
            <a:off x="4663440" y="1965960"/>
            <a:ext cx="3200400" cy="1005840"/>
          </a:xfrm>
          <a:prstGeom prst="rect">
            <a:avLst/>
          </a:prstGeom>
          <a:noFill/>
          <a:ln/>
        </p:spPr>
        <p:txBody>
          <a:bodyPr wrap="square" lIns="0" tIns="0" rIns="0" bIns="0" rtlCol="0" anchor="ctr"/>
          <a:lstStyle/>
          <a:p>
            <a:pPr indent="0" marL="0">
              <a:buNone/>
            </a:pPr>
            <a:r>
              <a:rPr lang="en-US" sz="5600" b="1" dirty="0">
                <a:solidFill>
                  <a:srgbClr val="CCFBF1"/>
                </a:solidFill>
                <a:latin typeface="Calibri" pitchFamily="34" charset="0"/>
                <a:ea typeface="Calibri" pitchFamily="34" charset="-122"/>
                <a:cs typeface="Calibri" pitchFamily="34" charset="-120"/>
              </a:rPr>
              <a:t>02</a:t>
            </a:r>
            <a:endParaRPr lang="en-US" sz="5600" dirty="0"/>
          </a:p>
        </p:txBody>
      </p:sp>
      <p:sp>
        <p:nvSpPr>
          <p:cNvPr id="11" name="Text 9"/>
          <p:cNvSpPr/>
          <p:nvPr/>
        </p:nvSpPr>
        <p:spPr>
          <a:xfrm>
            <a:off x="4663440" y="3063240"/>
            <a:ext cx="3200400" cy="91440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Urban migration keeps rising</a:t>
            </a:r>
            <a:endParaRPr lang="en-US" sz="1800" dirty="0"/>
          </a:p>
        </p:txBody>
      </p:sp>
      <p:sp>
        <p:nvSpPr>
          <p:cNvPr id="12" name="Text 10"/>
          <p:cNvSpPr/>
          <p:nvPr/>
        </p:nvSpPr>
        <p:spPr>
          <a:xfrm>
            <a:off x="4663440" y="4023360"/>
            <a:ext cx="3200400" cy="17373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Phnom Penh is growing at an accelerating rate. Tens of thousands of students, workers, and migrants relocate to the capital every year, creating sustained, growing demand for rental rooms.</a:t>
            </a:r>
            <a:endParaRPr lang="en-US" sz="1200" dirty="0"/>
          </a:p>
        </p:txBody>
      </p:sp>
      <p:sp>
        <p:nvSpPr>
          <p:cNvPr id="13" name="Shape 11"/>
          <p:cNvSpPr/>
          <p:nvPr/>
        </p:nvSpPr>
        <p:spPr>
          <a:xfrm>
            <a:off x="8321040" y="1691640"/>
            <a:ext cx="3749040" cy="4206240"/>
          </a:xfrm>
          <a:prstGeom prst="rect">
            <a:avLst/>
          </a:prstGeom>
          <a:solidFill>
            <a:srgbClr val="FFFFFF"/>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14" name="Text 12"/>
          <p:cNvSpPr/>
          <p:nvPr/>
        </p:nvSpPr>
        <p:spPr>
          <a:xfrm>
            <a:off x="8595360" y="1965960"/>
            <a:ext cx="3200400" cy="1005840"/>
          </a:xfrm>
          <a:prstGeom prst="rect">
            <a:avLst/>
          </a:prstGeom>
          <a:noFill/>
          <a:ln/>
        </p:spPr>
        <p:txBody>
          <a:bodyPr wrap="square" lIns="0" tIns="0" rIns="0" bIns="0" rtlCol="0" anchor="ctr"/>
          <a:lstStyle/>
          <a:p>
            <a:pPr indent="0" marL="0">
              <a:buNone/>
            </a:pPr>
            <a:r>
              <a:rPr lang="en-US" sz="5600" b="1" dirty="0">
                <a:solidFill>
                  <a:srgbClr val="CCFBF1"/>
                </a:solidFill>
                <a:latin typeface="Calibri" pitchFamily="34" charset="0"/>
                <a:ea typeface="Calibri" pitchFamily="34" charset="-122"/>
                <a:cs typeface="Calibri" pitchFamily="34" charset="-120"/>
              </a:rPr>
              <a:t>03</a:t>
            </a:r>
            <a:endParaRPr lang="en-US" sz="5600" dirty="0"/>
          </a:p>
        </p:txBody>
      </p:sp>
      <p:sp>
        <p:nvSpPr>
          <p:cNvPr id="15" name="Text 13"/>
          <p:cNvSpPr/>
          <p:nvPr/>
        </p:nvSpPr>
        <p:spPr>
          <a:xfrm>
            <a:off x="8595360" y="3063240"/>
            <a:ext cx="3200400" cy="91440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The market is still unowned</a:t>
            </a:r>
            <a:endParaRPr lang="en-US" sz="1800" dirty="0"/>
          </a:p>
        </p:txBody>
      </p:sp>
      <p:sp>
        <p:nvSpPr>
          <p:cNvPr id="16" name="Text 14"/>
          <p:cNvSpPr/>
          <p:nvPr/>
        </p:nvSpPr>
        <p:spPr>
          <a:xfrm>
            <a:off x="8595360" y="4023360"/>
            <a:ext cx="3200400" cy="173736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No purpose-built rental platform exists for Cambodia's affordable room segment. Facebook and Telegram aren't designed for it. The window to become Cambodia's default rental platform is open — for now.</a:t>
            </a:r>
            <a:endParaRPr lang="en-US" sz="1200" dirty="0"/>
          </a:p>
        </p:txBody>
      </p:sp>
      <p:sp>
        <p:nvSpPr>
          <p:cNvPr id="17" name="Text 15"/>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18" name="Text 16"/>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Free now. Sustainable later.</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A two-stage model designed for marketplace adoption, then revenue.</a:t>
            </a:r>
            <a:endParaRPr lang="en-US" sz="1400" dirty="0"/>
          </a:p>
        </p:txBody>
      </p:sp>
      <p:sp>
        <p:nvSpPr>
          <p:cNvPr id="5" name="Shape 3"/>
          <p:cNvSpPr/>
          <p:nvPr/>
        </p:nvSpPr>
        <p:spPr>
          <a:xfrm>
            <a:off x="457200" y="1737360"/>
            <a:ext cx="5623560" cy="4297680"/>
          </a:xfrm>
          <a:prstGeom prst="rect">
            <a:avLst/>
          </a:prstGeom>
          <a:solidFill>
            <a:srgbClr val="CCFBF1"/>
          </a:solidFill>
          <a:ln w="12700">
            <a:solidFill>
              <a:srgbClr val="0F766E"/>
            </a:solidFill>
            <a:prstDash val="solid"/>
          </a:ln>
          <a:effectLst>
            <a:outerShdw sx="100000" sy="100000" kx="0" ky="0" algn="bl" rotWithShape="0" blurRad="76200" dist="25400" dir="16200000">
              <a:srgbClr val="000000">
                <a:alpha val="8000"/>
              </a:srgbClr>
            </a:outerShdw>
          </a:effectLst>
        </p:spPr>
      </p:sp>
      <p:sp>
        <p:nvSpPr>
          <p:cNvPr id="6" name="Text 4"/>
          <p:cNvSpPr/>
          <p:nvPr/>
        </p:nvSpPr>
        <p:spPr>
          <a:xfrm>
            <a:off x="822960" y="2011680"/>
            <a:ext cx="4937760" cy="320040"/>
          </a:xfrm>
          <a:prstGeom prst="rect">
            <a:avLst/>
          </a:prstGeom>
          <a:noFill/>
          <a:ln/>
        </p:spPr>
        <p:txBody>
          <a:bodyPr wrap="square" lIns="0" tIns="0" rIns="0" bIns="0" rtlCol="0" anchor="ctr"/>
          <a:lstStyle/>
          <a:p>
            <a:pPr indent="0" marL="0">
              <a:buNone/>
            </a:pPr>
            <a:r>
              <a:rPr lang="en-US" sz="1100" b="1" spc="400" kern="0" dirty="0">
                <a:solidFill>
                  <a:srgbClr val="0F766E"/>
                </a:solidFill>
                <a:latin typeface="Calibri" pitchFamily="34" charset="0"/>
                <a:ea typeface="Calibri" pitchFamily="34" charset="-122"/>
                <a:cs typeface="Calibri" pitchFamily="34" charset="-120"/>
              </a:rPr>
              <a:t>STAGE 1</a:t>
            </a:r>
            <a:endParaRPr lang="en-US" sz="1100" dirty="0"/>
          </a:p>
        </p:txBody>
      </p:sp>
      <p:sp>
        <p:nvSpPr>
          <p:cNvPr id="7" name="Text 5"/>
          <p:cNvSpPr/>
          <p:nvPr/>
        </p:nvSpPr>
        <p:spPr>
          <a:xfrm>
            <a:off x="822960" y="2331720"/>
            <a:ext cx="493776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Year 1 — Build the audience</a:t>
            </a:r>
            <a:endParaRPr lang="en-US" sz="1100" dirty="0"/>
          </a:p>
        </p:txBody>
      </p:sp>
      <p:sp>
        <p:nvSpPr>
          <p:cNvPr id="8" name="Text 6"/>
          <p:cNvSpPr/>
          <p:nvPr/>
        </p:nvSpPr>
        <p:spPr>
          <a:xfrm>
            <a:off x="822960" y="2697480"/>
            <a:ext cx="4937760" cy="64008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100% Free</a:t>
            </a:r>
            <a:endParaRPr lang="en-US" sz="2800" dirty="0"/>
          </a:p>
        </p:txBody>
      </p:sp>
      <p:sp>
        <p:nvSpPr>
          <p:cNvPr id="9" name="Text 7"/>
          <p:cNvSpPr/>
          <p:nvPr/>
        </p:nvSpPr>
        <p:spPr>
          <a:xfrm>
            <a:off x="822960" y="3429000"/>
            <a:ext cx="4937760" cy="10058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Free listings for landlords. Free search for renters. No fees, no commissions, no subscriptions. The goal is trust and habit — not revenue.</a:t>
            </a:r>
            <a:endParaRPr lang="en-US" sz="1200" dirty="0"/>
          </a:p>
        </p:txBody>
      </p:sp>
      <p:sp>
        <p:nvSpPr>
          <p:cNvPr id="10" name="Text 8"/>
          <p:cNvSpPr/>
          <p:nvPr/>
        </p:nvSpPr>
        <p:spPr>
          <a:xfrm>
            <a:off x="822960" y="4480560"/>
            <a:ext cx="493776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Free unlimited listings</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Free search and filters</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Free Khmer-first UI</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Free direct contact</a:t>
            </a:r>
            <a:endParaRPr lang="en-US" sz="1200" dirty="0"/>
          </a:p>
        </p:txBody>
      </p:sp>
      <p:sp>
        <p:nvSpPr>
          <p:cNvPr id="11" name="Shape 9"/>
          <p:cNvSpPr/>
          <p:nvPr/>
        </p:nvSpPr>
        <p:spPr>
          <a:xfrm>
            <a:off x="6355080" y="1737360"/>
            <a:ext cx="5623560" cy="4297680"/>
          </a:xfrm>
          <a:prstGeom prst="rect">
            <a:avLst/>
          </a:prstGeom>
          <a:solidFill>
            <a:srgbClr val="FEF3C7"/>
          </a:solidFill>
          <a:ln w="12700">
            <a:solidFill>
              <a:srgbClr val="F59E0B"/>
            </a:solidFill>
            <a:prstDash val="solid"/>
          </a:ln>
          <a:effectLst>
            <a:outerShdw sx="100000" sy="100000" kx="0" ky="0" algn="bl" rotWithShape="0" blurRad="76200" dist="25400" dir="16200000">
              <a:srgbClr val="000000">
                <a:alpha val="8000"/>
              </a:srgbClr>
            </a:outerShdw>
          </a:effectLst>
        </p:spPr>
      </p:sp>
      <p:sp>
        <p:nvSpPr>
          <p:cNvPr id="12" name="Text 10"/>
          <p:cNvSpPr/>
          <p:nvPr/>
        </p:nvSpPr>
        <p:spPr>
          <a:xfrm>
            <a:off x="6720840" y="2011680"/>
            <a:ext cx="4937760" cy="320040"/>
          </a:xfrm>
          <a:prstGeom prst="rect">
            <a:avLst/>
          </a:prstGeom>
          <a:noFill/>
          <a:ln/>
        </p:spPr>
        <p:txBody>
          <a:bodyPr wrap="square" lIns="0" tIns="0" rIns="0" bIns="0" rtlCol="0" anchor="ctr"/>
          <a:lstStyle/>
          <a:p>
            <a:pPr indent="0" marL="0">
              <a:buNone/>
            </a:pPr>
            <a:r>
              <a:rPr lang="en-US" sz="1100" b="1" spc="400" kern="0" dirty="0">
                <a:solidFill>
                  <a:srgbClr val="F59E0B"/>
                </a:solidFill>
                <a:latin typeface="Calibri" pitchFamily="34" charset="0"/>
                <a:ea typeface="Calibri" pitchFamily="34" charset="-122"/>
                <a:cs typeface="Calibri" pitchFamily="34" charset="-120"/>
              </a:rPr>
              <a:t>STAGE 2</a:t>
            </a:r>
            <a:endParaRPr lang="en-US" sz="1100" dirty="0"/>
          </a:p>
        </p:txBody>
      </p:sp>
      <p:sp>
        <p:nvSpPr>
          <p:cNvPr id="13" name="Text 11"/>
          <p:cNvSpPr/>
          <p:nvPr/>
        </p:nvSpPr>
        <p:spPr>
          <a:xfrm>
            <a:off x="6720840" y="2331720"/>
            <a:ext cx="493776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Year 2+ — Add sustainable revenue</a:t>
            </a:r>
            <a:endParaRPr lang="en-US" sz="1100" dirty="0"/>
          </a:p>
        </p:txBody>
      </p:sp>
      <p:sp>
        <p:nvSpPr>
          <p:cNvPr id="14" name="Text 12"/>
          <p:cNvSpPr/>
          <p:nvPr/>
        </p:nvSpPr>
        <p:spPr>
          <a:xfrm>
            <a:off x="6720840" y="2697480"/>
            <a:ext cx="4937760" cy="64008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Optional Paid Tools</a:t>
            </a:r>
            <a:endParaRPr lang="en-US" sz="2800" dirty="0"/>
          </a:p>
        </p:txBody>
      </p:sp>
      <p:sp>
        <p:nvSpPr>
          <p:cNvPr id="15" name="Text 13"/>
          <p:cNvSpPr/>
          <p:nvPr/>
        </p:nvSpPr>
        <p:spPr>
          <a:xfrm>
            <a:off x="6720840" y="3429000"/>
            <a:ext cx="4937760" cy="10058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Once Joul is the trusted default, introduce paid tools that landlords with bigger operations will naturally want. The free marketplace stays free.</a:t>
            </a:r>
            <a:endParaRPr lang="en-US" sz="1200" dirty="0"/>
          </a:p>
        </p:txBody>
      </p:sp>
      <p:sp>
        <p:nvSpPr>
          <p:cNvPr id="16" name="Text 14"/>
          <p:cNvSpPr/>
          <p:nvPr/>
        </p:nvSpPr>
        <p:spPr>
          <a:xfrm>
            <a:off x="6720840" y="4480560"/>
            <a:ext cx="493776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Featured listings ($2-10 / period)</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SaaS for multi-unit landlords ($15-50 / month)</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In-app payments (1-2% transaction fee)</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Verified-listing badge</a:t>
            </a:r>
            <a:endParaRPr lang="en-US" sz="1200" dirty="0"/>
          </a:p>
        </p:txBody>
      </p:sp>
      <p:sp>
        <p:nvSpPr>
          <p:cNvPr id="17" name="Text 15"/>
          <p:cNvSpPr/>
          <p:nvPr/>
        </p:nvSpPr>
        <p:spPr>
          <a:xfrm>
            <a:off x="457200" y="6172200"/>
            <a:ext cx="1124712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Same playbook as Airbnb, Zillow, and OLX: trust and audience first, monetization second.</a:t>
            </a:r>
            <a:endParaRPr lang="en-US" sz="1000" dirty="0"/>
          </a:p>
        </p:txBody>
      </p:sp>
      <p:sp>
        <p:nvSpPr>
          <p:cNvPr id="18" name="Text 16"/>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19" name="Text 17"/>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Launch in 8 weeks.</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Public launch: Saturday, July 25, 2026 — timed to the August student migration into Phnom Penh.</a:t>
            </a:r>
            <a:endParaRPr lang="en-US" sz="1400" dirty="0"/>
          </a:p>
        </p:txBody>
      </p:sp>
      <p:sp>
        <p:nvSpPr>
          <p:cNvPr id="5" name="Shape 3"/>
          <p:cNvSpPr/>
          <p:nvPr/>
        </p:nvSpPr>
        <p:spPr>
          <a:xfrm>
            <a:off x="457200" y="1828800"/>
            <a:ext cx="1325880" cy="1280160"/>
          </a:xfrm>
          <a:prstGeom prst="roundRect">
            <a:avLst>
              <a:gd name="adj" fmla="val 4286"/>
            </a:avLst>
          </a:prstGeom>
          <a:solidFill>
            <a:srgbClr val="CCFBF1"/>
          </a:solidFill>
          <a:ln w="12700">
            <a:solidFill>
              <a:srgbClr val="0F766E"/>
            </a:solidFill>
            <a:prstDash val="solid"/>
          </a:ln>
        </p:spPr>
      </p:sp>
      <p:sp>
        <p:nvSpPr>
          <p:cNvPr id="6" name="Text 4"/>
          <p:cNvSpPr/>
          <p:nvPr/>
        </p:nvSpPr>
        <p:spPr>
          <a:xfrm>
            <a:off x="457200" y="2011680"/>
            <a:ext cx="1325880" cy="365760"/>
          </a:xfrm>
          <a:prstGeom prst="rect">
            <a:avLst/>
          </a:prstGeom>
          <a:noFill/>
          <a:ln/>
        </p:spPr>
        <p:txBody>
          <a:bodyPr wrap="square" lIns="0" tIns="0" rIns="0" bIns="0" rtlCol="0" anchor="ctr"/>
          <a:lstStyle/>
          <a:p>
            <a:pPr algn="ctr" indent="0" marL="0">
              <a:buNone/>
            </a:pPr>
            <a:r>
              <a:rPr lang="en-US" sz="1600" b="1" dirty="0">
                <a:solidFill>
                  <a:srgbClr val="115E59"/>
                </a:solidFill>
                <a:latin typeface="Calibri" pitchFamily="34" charset="0"/>
                <a:ea typeface="Calibri" pitchFamily="34" charset="-122"/>
                <a:cs typeface="Calibri" pitchFamily="34" charset="-120"/>
              </a:rPr>
              <a:t>W1</a:t>
            </a:r>
            <a:endParaRPr lang="en-US" sz="1600" dirty="0"/>
          </a:p>
        </p:txBody>
      </p:sp>
      <p:sp>
        <p:nvSpPr>
          <p:cNvPr id="7" name="Text 5"/>
          <p:cNvSpPr/>
          <p:nvPr/>
        </p:nvSpPr>
        <p:spPr>
          <a:xfrm>
            <a:off x="457200" y="2423160"/>
            <a:ext cx="132588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Foundation</a:t>
            </a:r>
            <a:endParaRPr lang="en-US" sz="1100" dirty="0"/>
          </a:p>
        </p:txBody>
      </p:sp>
      <p:sp>
        <p:nvSpPr>
          <p:cNvPr id="8" name="Shape 6"/>
          <p:cNvSpPr/>
          <p:nvPr/>
        </p:nvSpPr>
        <p:spPr>
          <a:xfrm>
            <a:off x="1874520" y="1828800"/>
            <a:ext cx="1325880" cy="1280160"/>
          </a:xfrm>
          <a:prstGeom prst="roundRect">
            <a:avLst>
              <a:gd name="adj" fmla="val 4286"/>
            </a:avLst>
          </a:prstGeom>
          <a:solidFill>
            <a:srgbClr val="CCFBF1"/>
          </a:solidFill>
          <a:ln w="12700">
            <a:solidFill>
              <a:srgbClr val="0F766E"/>
            </a:solidFill>
            <a:prstDash val="solid"/>
          </a:ln>
        </p:spPr>
      </p:sp>
      <p:sp>
        <p:nvSpPr>
          <p:cNvPr id="9" name="Text 7"/>
          <p:cNvSpPr/>
          <p:nvPr/>
        </p:nvSpPr>
        <p:spPr>
          <a:xfrm>
            <a:off x="1874520" y="2011680"/>
            <a:ext cx="1325880" cy="365760"/>
          </a:xfrm>
          <a:prstGeom prst="rect">
            <a:avLst/>
          </a:prstGeom>
          <a:noFill/>
          <a:ln/>
        </p:spPr>
        <p:txBody>
          <a:bodyPr wrap="square" lIns="0" tIns="0" rIns="0" bIns="0" rtlCol="0" anchor="ctr"/>
          <a:lstStyle/>
          <a:p>
            <a:pPr algn="ctr" indent="0" marL="0">
              <a:buNone/>
            </a:pPr>
            <a:r>
              <a:rPr lang="en-US" sz="1600" b="1" dirty="0">
                <a:solidFill>
                  <a:srgbClr val="115E59"/>
                </a:solidFill>
                <a:latin typeface="Calibri" pitchFamily="34" charset="0"/>
                <a:ea typeface="Calibri" pitchFamily="34" charset="-122"/>
                <a:cs typeface="Calibri" pitchFamily="34" charset="-120"/>
              </a:rPr>
              <a:t>W2</a:t>
            </a:r>
            <a:endParaRPr lang="en-US" sz="1600" dirty="0"/>
          </a:p>
        </p:txBody>
      </p:sp>
      <p:sp>
        <p:nvSpPr>
          <p:cNvPr id="10" name="Text 8"/>
          <p:cNvSpPr/>
          <p:nvPr/>
        </p:nvSpPr>
        <p:spPr>
          <a:xfrm>
            <a:off x="1874520" y="2423160"/>
            <a:ext cx="132588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First Listings</a:t>
            </a:r>
            <a:endParaRPr lang="en-US" sz="1100" dirty="0"/>
          </a:p>
        </p:txBody>
      </p:sp>
      <p:sp>
        <p:nvSpPr>
          <p:cNvPr id="11" name="Shape 9"/>
          <p:cNvSpPr/>
          <p:nvPr/>
        </p:nvSpPr>
        <p:spPr>
          <a:xfrm>
            <a:off x="3291840" y="1828800"/>
            <a:ext cx="1325880" cy="1280160"/>
          </a:xfrm>
          <a:prstGeom prst="roundRect">
            <a:avLst>
              <a:gd name="adj" fmla="val 4286"/>
            </a:avLst>
          </a:prstGeom>
          <a:solidFill>
            <a:srgbClr val="CCFBF1"/>
          </a:solidFill>
          <a:ln w="12700">
            <a:solidFill>
              <a:srgbClr val="0F766E"/>
            </a:solidFill>
            <a:prstDash val="solid"/>
          </a:ln>
        </p:spPr>
      </p:sp>
      <p:sp>
        <p:nvSpPr>
          <p:cNvPr id="12" name="Text 10"/>
          <p:cNvSpPr/>
          <p:nvPr/>
        </p:nvSpPr>
        <p:spPr>
          <a:xfrm>
            <a:off x="3291840" y="2011680"/>
            <a:ext cx="1325880" cy="365760"/>
          </a:xfrm>
          <a:prstGeom prst="rect">
            <a:avLst/>
          </a:prstGeom>
          <a:noFill/>
          <a:ln/>
        </p:spPr>
        <p:txBody>
          <a:bodyPr wrap="square" lIns="0" tIns="0" rIns="0" bIns="0" rtlCol="0" anchor="ctr"/>
          <a:lstStyle/>
          <a:p>
            <a:pPr algn="ctr" indent="0" marL="0">
              <a:buNone/>
            </a:pPr>
            <a:r>
              <a:rPr lang="en-US" sz="1600" b="1" dirty="0">
                <a:solidFill>
                  <a:srgbClr val="115E59"/>
                </a:solidFill>
                <a:latin typeface="Calibri" pitchFamily="34" charset="0"/>
                <a:ea typeface="Calibri" pitchFamily="34" charset="-122"/>
                <a:cs typeface="Calibri" pitchFamily="34" charset="-120"/>
              </a:rPr>
              <a:t>W3</a:t>
            </a:r>
            <a:endParaRPr lang="en-US" sz="1600" dirty="0"/>
          </a:p>
        </p:txBody>
      </p:sp>
      <p:sp>
        <p:nvSpPr>
          <p:cNvPr id="13" name="Text 11"/>
          <p:cNvSpPr/>
          <p:nvPr/>
        </p:nvSpPr>
        <p:spPr>
          <a:xfrm>
            <a:off x="3291840" y="2423160"/>
            <a:ext cx="132588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Cold Outreach</a:t>
            </a:r>
            <a:endParaRPr lang="en-US" sz="1100" dirty="0"/>
          </a:p>
        </p:txBody>
      </p:sp>
      <p:sp>
        <p:nvSpPr>
          <p:cNvPr id="14" name="Shape 12"/>
          <p:cNvSpPr/>
          <p:nvPr/>
        </p:nvSpPr>
        <p:spPr>
          <a:xfrm>
            <a:off x="4709160" y="1828800"/>
            <a:ext cx="1325880" cy="1280160"/>
          </a:xfrm>
          <a:prstGeom prst="roundRect">
            <a:avLst>
              <a:gd name="adj" fmla="val 4286"/>
            </a:avLst>
          </a:prstGeom>
          <a:solidFill>
            <a:srgbClr val="CCFBF1"/>
          </a:solidFill>
          <a:ln w="12700">
            <a:solidFill>
              <a:srgbClr val="0F766E"/>
            </a:solidFill>
            <a:prstDash val="solid"/>
          </a:ln>
        </p:spPr>
      </p:sp>
      <p:sp>
        <p:nvSpPr>
          <p:cNvPr id="15" name="Text 13"/>
          <p:cNvSpPr/>
          <p:nvPr/>
        </p:nvSpPr>
        <p:spPr>
          <a:xfrm>
            <a:off x="4709160" y="2011680"/>
            <a:ext cx="1325880" cy="365760"/>
          </a:xfrm>
          <a:prstGeom prst="rect">
            <a:avLst/>
          </a:prstGeom>
          <a:noFill/>
          <a:ln/>
        </p:spPr>
        <p:txBody>
          <a:bodyPr wrap="square" lIns="0" tIns="0" rIns="0" bIns="0" rtlCol="0" anchor="ctr"/>
          <a:lstStyle/>
          <a:p>
            <a:pPr algn="ctr" indent="0" marL="0">
              <a:buNone/>
            </a:pPr>
            <a:r>
              <a:rPr lang="en-US" sz="1600" b="1" dirty="0">
                <a:solidFill>
                  <a:srgbClr val="115E59"/>
                </a:solidFill>
                <a:latin typeface="Calibri" pitchFamily="34" charset="0"/>
                <a:ea typeface="Calibri" pitchFamily="34" charset="-122"/>
                <a:cs typeface="Calibri" pitchFamily="34" charset="-120"/>
              </a:rPr>
              <a:t>W4</a:t>
            </a:r>
            <a:endParaRPr lang="en-US" sz="1600" dirty="0"/>
          </a:p>
        </p:txBody>
      </p:sp>
      <p:sp>
        <p:nvSpPr>
          <p:cNvPr id="16" name="Text 14"/>
          <p:cNvSpPr/>
          <p:nvPr/>
        </p:nvSpPr>
        <p:spPr>
          <a:xfrm>
            <a:off x="4709160" y="2423160"/>
            <a:ext cx="132588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Mid-Point Review</a:t>
            </a:r>
            <a:endParaRPr lang="en-US" sz="1100" dirty="0"/>
          </a:p>
        </p:txBody>
      </p:sp>
      <p:sp>
        <p:nvSpPr>
          <p:cNvPr id="17" name="Shape 15"/>
          <p:cNvSpPr/>
          <p:nvPr/>
        </p:nvSpPr>
        <p:spPr>
          <a:xfrm>
            <a:off x="6126480" y="1828800"/>
            <a:ext cx="1325880" cy="1280160"/>
          </a:xfrm>
          <a:prstGeom prst="roundRect">
            <a:avLst>
              <a:gd name="adj" fmla="val 4286"/>
            </a:avLst>
          </a:prstGeom>
          <a:solidFill>
            <a:srgbClr val="CCFBF1"/>
          </a:solidFill>
          <a:ln w="12700">
            <a:solidFill>
              <a:srgbClr val="0F766E"/>
            </a:solidFill>
            <a:prstDash val="solid"/>
          </a:ln>
        </p:spPr>
      </p:sp>
      <p:sp>
        <p:nvSpPr>
          <p:cNvPr id="18" name="Text 16"/>
          <p:cNvSpPr/>
          <p:nvPr/>
        </p:nvSpPr>
        <p:spPr>
          <a:xfrm>
            <a:off x="6126480" y="2011680"/>
            <a:ext cx="1325880" cy="365760"/>
          </a:xfrm>
          <a:prstGeom prst="rect">
            <a:avLst/>
          </a:prstGeom>
          <a:noFill/>
          <a:ln/>
        </p:spPr>
        <p:txBody>
          <a:bodyPr wrap="square" lIns="0" tIns="0" rIns="0" bIns="0" rtlCol="0" anchor="ctr"/>
          <a:lstStyle/>
          <a:p>
            <a:pPr algn="ctr" indent="0" marL="0">
              <a:buNone/>
            </a:pPr>
            <a:r>
              <a:rPr lang="en-US" sz="1600" b="1" dirty="0">
                <a:solidFill>
                  <a:srgbClr val="115E59"/>
                </a:solidFill>
                <a:latin typeface="Calibri" pitchFamily="34" charset="0"/>
                <a:ea typeface="Calibri" pitchFamily="34" charset="-122"/>
                <a:cs typeface="Calibri" pitchFamily="34" charset="-120"/>
              </a:rPr>
              <a:t>W5</a:t>
            </a:r>
            <a:endParaRPr lang="en-US" sz="1600" dirty="0"/>
          </a:p>
        </p:txBody>
      </p:sp>
      <p:sp>
        <p:nvSpPr>
          <p:cNvPr id="19" name="Text 17"/>
          <p:cNvSpPr/>
          <p:nvPr/>
        </p:nvSpPr>
        <p:spPr>
          <a:xfrm>
            <a:off x="6126480" y="2423160"/>
            <a:ext cx="132588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Students</a:t>
            </a:r>
            <a:endParaRPr lang="en-US" sz="1100" dirty="0"/>
          </a:p>
        </p:txBody>
      </p:sp>
      <p:sp>
        <p:nvSpPr>
          <p:cNvPr id="20" name="Shape 18"/>
          <p:cNvSpPr/>
          <p:nvPr/>
        </p:nvSpPr>
        <p:spPr>
          <a:xfrm>
            <a:off x="7543800" y="1828800"/>
            <a:ext cx="1325880" cy="1280160"/>
          </a:xfrm>
          <a:prstGeom prst="roundRect">
            <a:avLst>
              <a:gd name="adj" fmla="val 4286"/>
            </a:avLst>
          </a:prstGeom>
          <a:solidFill>
            <a:srgbClr val="CCFBF1"/>
          </a:solidFill>
          <a:ln w="12700">
            <a:solidFill>
              <a:srgbClr val="0F766E"/>
            </a:solidFill>
            <a:prstDash val="solid"/>
          </a:ln>
        </p:spPr>
      </p:sp>
      <p:sp>
        <p:nvSpPr>
          <p:cNvPr id="21" name="Text 19"/>
          <p:cNvSpPr/>
          <p:nvPr/>
        </p:nvSpPr>
        <p:spPr>
          <a:xfrm>
            <a:off x="7543800" y="2011680"/>
            <a:ext cx="1325880" cy="365760"/>
          </a:xfrm>
          <a:prstGeom prst="rect">
            <a:avLst/>
          </a:prstGeom>
          <a:noFill/>
          <a:ln/>
        </p:spPr>
        <p:txBody>
          <a:bodyPr wrap="square" lIns="0" tIns="0" rIns="0" bIns="0" rtlCol="0" anchor="ctr"/>
          <a:lstStyle/>
          <a:p>
            <a:pPr algn="ctr" indent="0" marL="0">
              <a:buNone/>
            </a:pPr>
            <a:r>
              <a:rPr lang="en-US" sz="1600" b="1" dirty="0">
                <a:solidFill>
                  <a:srgbClr val="115E59"/>
                </a:solidFill>
                <a:latin typeface="Calibri" pitchFamily="34" charset="0"/>
                <a:ea typeface="Calibri" pitchFamily="34" charset="-122"/>
                <a:cs typeface="Calibri" pitchFamily="34" charset="-120"/>
              </a:rPr>
              <a:t>W6</a:t>
            </a:r>
            <a:endParaRPr lang="en-US" sz="1600" dirty="0"/>
          </a:p>
        </p:txBody>
      </p:sp>
      <p:sp>
        <p:nvSpPr>
          <p:cNvPr id="22" name="Text 20"/>
          <p:cNvSpPr/>
          <p:nvPr/>
        </p:nvSpPr>
        <p:spPr>
          <a:xfrm>
            <a:off x="7543800" y="2423160"/>
            <a:ext cx="132588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Soft Launch</a:t>
            </a:r>
            <a:endParaRPr lang="en-US" sz="1100" dirty="0"/>
          </a:p>
        </p:txBody>
      </p:sp>
      <p:sp>
        <p:nvSpPr>
          <p:cNvPr id="23" name="Shape 21"/>
          <p:cNvSpPr/>
          <p:nvPr/>
        </p:nvSpPr>
        <p:spPr>
          <a:xfrm>
            <a:off x="8961120" y="1828800"/>
            <a:ext cx="1325880" cy="1280160"/>
          </a:xfrm>
          <a:prstGeom prst="roundRect">
            <a:avLst>
              <a:gd name="adj" fmla="val 4286"/>
            </a:avLst>
          </a:prstGeom>
          <a:solidFill>
            <a:srgbClr val="CCFBF1"/>
          </a:solidFill>
          <a:ln w="12700">
            <a:solidFill>
              <a:srgbClr val="0F766E"/>
            </a:solidFill>
            <a:prstDash val="solid"/>
          </a:ln>
        </p:spPr>
      </p:sp>
      <p:sp>
        <p:nvSpPr>
          <p:cNvPr id="24" name="Text 22"/>
          <p:cNvSpPr/>
          <p:nvPr/>
        </p:nvSpPr>
        <p:spPr>
          <a:xfrm>
            <a:off x="8961120" y="2011680"/>
            <a:ext cx="1325880" cy="365760"/>
          </a:xfrm>
          <a:prstGeom prst="rect">
            <a:avLst/>
          </a:prstGeom>
          <a:noFill/>
          <a:ln/>
        </p:spPr>
        <p:txBody>
          <a:bodyPr wrap="square" lIns="0" tIns="0" rIns="0" bIns="0" rtlCol="0" anchor="ctr"/>
          <a:lstStyle/>
          <a:p>
            <a:pPr algn="ctr" indent="0" marL="0">
              <a:buNone/>
            </a:pPr>
            <a:r>
              <a:rPr lang="en-US" sz="1600" b="1" dirty="0">
                <a:solidFill>
                  <a:srgbClr val="115E59"/>
                </a:solidFill>
                <a:latin typeface="Calibri" pitchFamily="34" charset="0"/>
                <a:ea typeface="Calibri" pitchFamily="34" charset="-122"/>
                <a:cs typeface="Calibri" pitchFamily="34" charset="-120"/>
              </a:rPr>
              <a:t>W7</a:t>
            </a:r>
            <a:endParaRPr lang="en-US" sz="1600" dirty="0"/>
          </a:p>
        </p:txBody>
      </p:sp>
      <p:sp>
        <p:nvSpPr>
          <p:cNvPr id="25" name="Text 23"/>
          <p:cNvSpPr/>
          <p:nvPr/>
        </p:nvSpPr>
        <p:spPr>
          <a:xfrm>
            <a:off x="8961120" y="2423160"/>
            <a:ext cx="1325880" cy="548640"/>
          </a:xfrm>
          <a:prstGeom prst="rect">
            <a:avLst/>
          </a:prstGeom>
          <a:noFill/>
          <a:ln/>
        </p:spPr>
        <p:txBody>
          <a:bodyPr wrap="square" lIns="0" tIns="0" rIns="0" bIns="0" rtlCol="0" anchor="ctr"/>
          <a:lstStyle/>
          <a:p>
            <a:pPr algn="ctr" indent="0" marL="0">
              <a:buNone/>
            </a:pPr>
            <a:r>
              <a:rPr lang="en-US" sz="1100" dirty="0">
                <a:solidFill>
                  <a:srgbClr val="0F172A"/>
                </a:solidFill>
                <a:latin typeface="Calibri" pitchFamily="34" charset="0"/>
                <a:ea typeface="Calibri" pitchFamily="34" charset="-122"/>
                <a:cs typeface="Calibri" pitchFamily="34" charset="-120"/>
              </a:rPr>
              <a:t>Prep</a:t>
            </a:r>
            <a:endParaRPr lang="en-US" sz="1100" dirty="0"/>
          </a:p>
        </p:txBody>
      </p:sp>
      <p:sp>
        <p:nvSpPr>
          <p:cNvPr id="26" name="Shape 24"/>
          <p:cNvSpPr/>
          <p:nvPr/>
        </p:nvSpPr>
        <p:spPr>
          <a:xfrm>
            <a:off x="10378440" y="1828800"/>
            <a:ext cx="1325880" cy="1280160"/>
          </a:xfrm>
          <a:prstGeom prst="roundRect">
            <a:avLst>
              <a:gd name="adj" fmla="val 4286"/>
            </a:avLst>
          </a:prstGeom>
          <a:solidFill>
            <a:srgbClr val="F59E0B"/>
          </a:solidFill>
          <a:ln w="12700">
            <a:solidFill>
              <a:srgbClr val="F59E0B"/>
            </a:solidFill>
            <a:prstDash val="solid"/>
          </a:ln>
        </p:spPr>
      </p:sp>
      <p:sp>
        <p:nvSpPr>
          <p:cNvPr id="27" name="Text 25"/>
          <p:cNvSpPr/>
          <p:nvPr/>
        </p:nvSpPr>
        <p:spPr>
          <a:xfrm>
            <a:off x="10378440" y="2011680"/>
            <a:ext cx="132588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W8</a:t>
            </a:r>
            <a:endParaRPr lang="en-US" sz="1600" dirty="0"/>
          </a:p>
        </p:txBody>
      </p:sp>
      <p:sp>
        <p:nvSpPr>
          <p:cNvPr id="28" name="Text 26"/>
          <p:cNvSpPr/>
          <p:nvPr/>
        </p:nvSpPr>
        <p:spPr>
          <a:xfrm>
            <a:off x="10378440" y="2423160"/>
            <a:ext cx="132588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LAUNCH</a:t>
            </a:r>
            <a:endParaRPr lang="en-US" sz="1100" dirty="0"/>
          </a:p>
        </p:txBody>
      </p:sp>
      <p:sp>
        <p:nvSpPr>
          <p:cNvPr id="29" name="Shape 27"/>
          <p:cNvSpPr/>
          <p:nvPr/>
        </p:nvSpPr>
        <p:spPr>
          <a:xfrm>
            <a:off x="548640" y="3547872"/>
            <a:ext cx="164592" cy="164592"/>
          </a:xfrm>
          <a:prstGeom prst="ellipse">
            <a:avLst/>
          </a:prstGeom>
          <a:solidFill>
            <a:srgbClr val="0F766E"/>
          </a:solidFill>
          <a:ln w="12700">
            <a:solidFill>
              <a:srgbClr val="0F766E"/>
            </a:solidFill>
            <a:prstDash val="solid"/>
          </a:ln>
        </p:spPr>
      </p:sp>
      <p:sp>
        <p:nvSpPr>
          <p:cNvPr id="30" name="Text 28"/>
          <p:cNvSpPr/>
          <p:nvPr/>
        </p:nvSpPr>
        <p:spPr>
          <a:xfrm>
            <a:off x="868680" y="3474720"/>
            <a:ext cx="182880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Week 1-2</a:t>
            </a:r>
            <a:endParaRPr lang="en-US" sz="1200" dirty="0"/>
          </a:p>
        </p:txBody>
      </p:sp>
      <p:sp>
        <p:nvSpPr>
          <p:cNvPr id="31" name="Text 29"/>
          <p:cNvSpPr/>
          <p:nvPr/>
        </p:nvSpPr>
        <p:spPr>
          <a:xfrm>
            <a:off x="2834640" y="3474720"/>
            <a:ext cx="8869680" cy="32004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Real backend live. 3-5 warm landlords listed with photos.</a:t>
            </a:r>
            <a:endParaRPr lang="en-US" sz="1200" dirty="0"/>
          </a:p>
        </p:txBody>
      </p:sp>
      <p:sp>
        <p:nvSpPr>
          <p:cNvPr id="32" name="Shape 30"/>
          <p:cNvSpPr/>
          <p:nvPr/>
        </p:nvSpPr>
        <p:spPr>
          <a:xfrm>
            <a:off x="548640" y="4096512"/>
            <a:ext cx="164592" cy="164592"/>
          </a:xfrm>
          <a:prstGeom prst="ellipse">
            <a:avLst/>
          </a:prstGeom>
          <a:solidFill>
            <a:srgbClr val="0F766E"/>
          </a:solidFill>
          <a:ln w="12700">
            <a:solidFill>
              <a:srgbClr val="0F766E"/>
            </a:solidFill>
            <a:prstDash val="solid"/>
          </a:ln>
        </p:spPr>
      </p:sp>
      <p:sp>
        <p:nvSpPr>
          <p:cNvPr id="33" name="Text 31"/>
          <p:cNvSpPr/>
          <p:nvPr/>
        </p:nvSpPr>
        <p:spPr>
          <a:xfrm>
            <a:off x="868680" y="4023360"/>
            <a:ext cx="182880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Week 3-4</a:t>
            </a:r>
            <a:endParaRPr lang="en-US" sz="1200" dirty="0"/>
          </a:p>
        </p:txBody>
      </p:sp>
      <p:sp>
        <p:nvSpPr>
          <p:cNvPr id="34" name="Text 32"/>
          <p:cNvSpPr/>
          <p:nvPr/>
        </p:nvSpPr>
        <p:spPr>
          <a:xfrm>
            <a:off x="2834640" y="4023360"/>
            <a:ext cx="8869680" cy="32004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Cold-door outreach begins near RUPP. Mid-point review on June 28.</a:t>
            </a:r>
            <a:endParaRPr lang="en-US" sz="1200" dirty="0"/>
          </a:p>
        </p:txBody>
      </p:sp>
      <p:sp>
        <p:nvSpPr>
          <p:cNvPr id="35" name="Shape 33"/>
          <p:cNvSpPr/>
          <p:nvPr/>
        </p:nvSpPr>
        <p:spPr>
          <a:xfrm>
            <a:off x="548640" y="4645152"/>
            <a:ext cx="164592" cy="164592"/>
          </a:xfrm>
          <a:prstGeom prst="ellipse">
            <a:avLst/>
          </a:prstGeom>
          <a:solidFill>
            <a:srgbClr val="0F766E"/>
          </a:solidFill>
          <a:ln w="12700">
            <a:solidFill>
              <a:srgbClr val="0F766E"/>
            </a:solidFill>
            <a:prstDash val="solid"/>
          </a:ln>
        </p:spPr>
      </p:sp>
      <p:sp>
        <p:nvSpPr>
          <p:cNvPr id="36" name="Text 34"/>
          <p:cNvSpPr/>
          <p:nvPr/>
        </p:nvSpPr>
        <p:spPr>
          <a:xfrm>
            <a:off x="868680" y="4572000"/>
            <a:ext cx="182880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Week 5-6</a:t>
            </a:r>
            <a:endParaRPr lang="en-US" sz="1200" dirty="0"/>
          </a:p>
        </p:txBody>
      </p:sp>
      <p:sp>
        <p:nvSpPr>
          <p:cNvPr id="37" name="Text 35"/>
          <p:cNvSpPr/>
          <p:nvPr/>
        </p:nvSpPr>
        <p:spPr>
          <a:xfrm>
            <a:off x="2834640" y="4572000"/>
            <a:ext cx="8869680" cy="32004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Student-side activation (Facebook groups, Telegram). Soft launch with 30-50 users.</a:t>
            </a:r>
            <a:endParaRPr lang="en-US" sz="1200" dirty="0"/>
          </a:p>
        </p:txBody>
      </p:sp>
      <p:sp>
        <p:nvSpPr>
          <p:cNvPr id="38" name="Shape 36"/>
          <p:cNvSpPr/>
          <p:nvPr/>
        </p:nvSpPr>
        <p:spPr>
          <a:xfrm>
            <a:off x="548640" y="5193792"/>
            <a:ext cx="164592" cy="164592"/>
          </a:xfrm>
          <a:prstGeom prst="ellipse">
            <a:avLst/>
          </a:prstGeom>
          <a:solidFill>
            <a:srgbClr val="0F766E"/>
          </a:solidFill>
          <a:ln w="12700">
            <a:solidFill>
              <a:srgbClr val="0F766E"/>
            </a:solidFill>
            <a:prstDash val="solid"/>
          </a:ln>
        </p:spPr>
      </p:sp>
      <p:sp>
        <p:nvSpPr>
          <p:cNvPr id="39" name="Text 37"/>
          <p:cNvSpPr/>
          <p:nvPr/>
        </p:nvSpPr>
        <p:spPr>
          <a:xfrm>
            <a:off x="868680" y="5120640"/>
            <a:ext cx="182880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Week 7-8</a:t>
            </a:r>
            <a:endParaRPr lang="en-US" sz="1200" dirty="0"/>
          </a:p>
        </p:txBody>
      </p:sp>
      <p:sp>
        <p:nvSpPr>
          <p:cNvPr id="40" name="Text 38"/>
          <p:cNvSpPr/>
          <p:nvPr/>
        </p:nvSpPr>
        <p:spPr>
          <a:xfrm>
            <a:off x="2834640" y="5120640"/>
            <a:ext cx="8869680" cy="32004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Final polish. 22-25 active landlords. Public launch July 25 to catch August intake.</a:t>
            </a:r>
            <a:endParaRPr lang="en-US" sz="1200" dirty="0"/>
          </a:p>
        </p:txBody>
      </p:sp>
      <p:sp>
        <p:nvSpPr>
          <p:cNvPr id="41" name="Shape 39"/>
          <p:cNvSpPr/>
          <p:nvPr/>
        </p:nvSpPr>
        <p:spPr>
          <a:xfrm>
            <a:off x="457200" y="5760720"/>
            <a:ext cx="11247120" cy="457200"/>
          </a:xfrm>
          <a:prstGeom prst="rect">
            <a:avLst/>
          </a:prstGeom>
          <a:solidFill>
            <a:srgbClr val="0F172A"/>
          </a:solidFill>
          <a:ln w="12700">
            <a:solidFill>
              <a:srgbClr val="0F172A"/>
            </a:solidFill>
            <a:prstDash val="solid"/>
          </a:ln>
        </p:spPr>
      </p:sp>
      <p:sp>
        <p:nvSpPr>
          <p:cNvPr id="42" name="Text 40"/>
          <p:cNvSpPr/>
          <p:nvPr/>
        </p:nvSpPr>
        <p:spPr>
          <a:xfrm>
            <a:off x="457200" y="5760720"/>
            <a:ext cx="112471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LAUNCH DAY TARGETS: 20+ active landlord listings  •  200+ engaged students  •  joul.kh live with HTTPS  •  Khmer + English UI</a:t>
            </a:r>
            <a:endParaRPr lang="en-US" sz="1200" dirty="0"/>
          </a:p>
        </p:txBody>
      </p:sp>
      <p:sp>
        <p:nvSpPr>
          <p:cNvPr id="43" name="Text 41"/>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44" name="Text 42"/>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Why nothing else works.</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Cambodia's rental market is currently served by general-purpose tools that weren't designed for it.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72800" cy="914400"/>
        </p:xfrm>
        <a:graphic>
          <a:graphicData uri="http://schemas.openxmlformats.org/drawingml/2006/table">
            <a:tbl>
              <a:tblPr/>
              <a:tblGrid>
                <a:gridCol w="2743200"/>
                <a:gridCol w="1463040"/>
                <a:gridCol w="2194560"/>
                <a:gridCol w="1645920"/>
                <a:gridCol w="1280160"/>
                <a:gridCol w="1645920"/>
              </a:tblGrid>
              <a:tr h="502920">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Facebook</a:t>
                      </a:r>
                      <a:endParaRPr lang="en-US" sz="1200" dirty="0">
                        <a:latin typeface="Calibri" charset="0"/>
                        <a:ea typeface="Calibri" charset="0"/>
                        <a:cs typeface="Calibri" charset="0"/>
                      </a:endParaRPr>
                    </a:p>
                    <a:p>
                      <a:pPr algn="ctr" indent="0" marL="0">
                        <a:buNone/>
                      </a:pPr>
                      <a:r>
                        <a:rPr lang="en-US" sz="1200" b="1" dirty="0">
                          <a:solidFill>
                            <a:srgbClr val="0F172A"/>
                          </a:solidFill>
                          <a:latin typeface="Calibri" pitchFamily="34" charset="0"/>
                          <a:ea typeface="Calibri" pitchFamily="34" charset="-122"/>
                          <a:cs typeface="Calibri" pitchFamily="34" charset="-120"/>
                        </a:rPr>
                        <a:t>Groups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realestate.com.kh</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Khmer24 /</a:t>
                      </a:r>
                      <a:endParaRPr lang="en-US" sz="1200" dirty="0">
                        <a:latin typeface="Calibri" charset="0"/>
                        <a:ea typeface="Calibri" charset="0"/>
                        <a:cs typeface="Calibri" charset="0"/>
                      </a:endParaRPr>
                    </a:p>
                    <a:p>
                      <a:pPr algn="ctr" indent="0" marL="0">
                        <a:buNone/>
                      </a:pPr>
                      <a:r>
                        <a:rPr lang="en-US" sz="1200" b="1" dirty="0">
                          <a:solidFill>
                            <a:srgbClr val="0F172A"/>
                          </a:solidFill>
                          <a:latin typeface="Calibri" pitchFamily="34" charset="0"/>
                          <a:ea typeface="Calibri" pitchFamily="34" charset="-122"/>
                          <a:cs typeface="Calibri" pitchFamily="34" charset="-120"/>
                        </a:rPr>
                        <a:t>BongLoy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0F172A"/>
                          </a:solidFill>
                          <a:latin typeface="Calibri" pitchFamily="34" charset="0"/>
                          <a:ea typeface="Calibri" pitchFamily="34" charset="-122"/>
                          <a:cs typeface="Calibri" pitchFamily="34" charset="-120"/>
                        </a:rPr>
                        <a:t>Paper</a:t>
                      </a:r>
                      <a:endParaRPr lang="en-US" sz="1200" dirty="0">
                        <a:latin typeface="Calibri" charset="0"/>
                        <a:ea typeface="Calibri" charset="0"/>
                        <a:cs typeface="Calibri" charset="0"/>
                      </a:endParaRPr>
                    </a:p>
                    <a:p>
                      <a:pPr algn="ctr" indent="0" marL="0">
                        <a:buNone/>
                      </a:pPr>
                      <a:r>
                        <a:rPr lang="en-US" sz="1200" b="1" dirty="0">
                          <a:solidFill>
                            <a:srgbClr val="0F172A"/>
                          </a:solidFill>
                          <a:latin typeface="Calibri" pitchFamily="34" charset="0"/>
                          <a:ea typeface="Calibri" pitchFamily="34" charset="-122"/>
                          <a:cs typeface="Calibri" pitchFamily="34" charset="-120"/>
                        </a:rPr>
                        <a:t>Posters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JOUL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766E"/>
                    </a:solidFill>
                  </a:tcPr>
                </a:tc>
              </a:tr>
              <a:tr h="502920">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Free to list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CFBF1"/>
                    </a:solidFill>
                  </a:tcPr>
                </a:tc>
              </a:tr>
              <a:tr h="502920">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Permanent listings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CFBF1"/>
                    </a:solidFill>
                  </a:tcPr>
                </a:tc>
              </a:tr>
              <a:tr h="502920">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Real-time availability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CFBF1"/>
                    </a:solidFill>
                  </a:tcPr>
                </a:tc>
              </a:tr>
              <a:tr h="502920">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Search &amp; filter</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CFBF1"/>
                    </a:solidFill>
                  </a:tcPr>
                </a:tc>
              </a:tr>
              <a:tr h="502920">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Built for rooms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CFBF1"/>
                    </a:solidFill>
                  </a:tcPr>
                </a:tc>
              </a:tr>
              <a:tr h="502920">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Khmer-first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CFBF1"/>
                    </a:solidFill>
                  </a:tcPr>
                </a:tc>
              </a:tr>
            </a:tbl>
          </a:graphicData>
        </a:graphic>
      </p:graphicFrame>
      <p:sp>
        <p:nvSpPr>
          <p:cNvPr id="6" name="Text 3"/>
          <p:cNvSpPr/>
          <p:nvPr/>
        </p:nvSpPr>
        <p:spPr>
          <a:xfrm>
            <a:off x="640080" y="5989320"/>
            <a:ext cx="10972800" cy="365760"/>
          </a:xfrm>
          <a:prstGeom prst="rect">
            <a:avLst/>
          </a:prstGeom>
          <a:noFill/>
          <a:ln/>
        </p:spPr>
        <p:txBody>
          <a:bodyPr wrap="square" lIns="0" tIns="0" rIns="0" bIns="0" rtlCol="0" anchor="ctr"/>
          <a:lstStyle/>
          <a:p>
            <a:pPr algn="ctr" indent="0" marL="0">
              <a:buNone/>
            </a:pPr>
            <a:r>
              <a:rPr lang="en-US" sz="1300" b="1" i="1" dirty="0">
                <a:solidFill>
                  <a:srgbClr val="115E59"/>
                </a:solidFill>
                <a:latin typeface="Calibri" pitchFamily="34" charset="0"/>
                <a:ea typeface="Calibri" pitchFamily="34" charset="-122"/>
                <a:cs typeface="Calibri" pitchFamily="34" charset="-120"/>
              </a:rPr>
              <a:t>Only Joul is purpose-built for Cambodia's affordable room rental market — free, permanent, searchable, and availability-aware.</a:t>
            </a:r>
            <a:endParaRPr lang="en-US" sz="1300" dirty="0"/>
          </a:p>
        </p:txBody>
      </p:sp>
      <p:sp>
        <p:nvSpPr>
          <p:cNvPr id="7" name="Text 4"/>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8" name="Text 5"/>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Built by Cambodians, for Cambodians.</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A local team with founder-market fit and shipping velocity.</a:t>
            </a:r>
            <a:endParaRPr lang="en-US" sz="1400" dirty="0"/>
          </a:p>
        </p:txBody>
      </p:sp>
      <p:sp>
        <p:nvSpPr>
          <p:cNvPr id="5" name="Shape 3"/>
          <p:cNvSpPr/>
          <p:nvPr/>
        </p:nvSpPr>
        <p:spPr>
          <a:xfrm>
            <a:off x="457200" y="1691640"/>
            <a:ext cx="5486400" cy="4206240"/>
          </a:xfrm>
          <a:prstGeom prst="rect">
            <a:avLst/>
          </a:prstGeom>
          <a:solidFill>
            <a:srgbClr val="115E59"/>
          </a:solidFill>
          <a:ln w="12700">
            <a:solidFill>
              <a:srgbClr val="115E59"/>
            </a:solidFill>
            <a:prstDash val="solid"/>
          </a:ln>
        </p:spPr>
      </p:sp>
      <p:sp>
        <p:nvSpPr>
          <p:cNvPr id="6" name="Text 4"/>
          <p:cNvSpPr/>
          <p:nvPr/>
        </p:nvSpPr>
        <p:spPr>
          <a:xfrm>
            <a:off x="731520" y="1828800"/>
            <a:ext cx="914400" cy="914400"/>
          </a:xfrm>
          <a:prstGeom prst="rect">
            <a:avLst/>
          </a:prstGeom>
          <a:noFill/>
          <a:ln/>
        </p:spPr>
        <p:txBody>
          <a:bodyPr wrap="square" lIns="0" tIns="0" rIns="0" bIns="0" rtlCol="0" anchor="t"/>
          <a:lstStyle/>
          <a:p>
            <a:pPr indent="0" marL="0">
              <a:buNone/>
            </a:pPr>
            <a:r>
              <a:rPr lang="en-US" sz="9000" dirty="0">
                <a:solidFill>
                  <a:srgbClr val="F59E0B"/>
                </a:solidFill>
                <a:latin typeface="Georgia" pitchFamily="34" charset="0"/>
                <a:ea typeface="Georgia" pitchFamily="34" charset="-122"/>
                <a:cs typeface="Georgia" pitchFamily="34" charset="-120"/>
              </a:rPr>
              <a:t>“</a:t>
            </a:r>
            <a:endParaRPr lang="en-US" sz="9000" dirty="0"/>
          </a:p>
        </p:txBody>
      </p:sp>
      <p:sp>
        <p:nvSpPr>
          <p:cNvPr id="7" name="Text 5"/>
          <p:cNvSpPr/>
          <p:nvPr/>
        </p:nvSpPr>
        <p:spPr>
          <a:xfrm>
            <a:off x="731520" y="2743200"/>
            <a:ext cx="4937760" cy="246888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I built Joul because I lived the problem. Months of scrolling Facebook for a room. Trips across town to see places already rented. Time and money wasted on a system that doesn't work.</a:t>
            </a:r>
            <a:endParaRPr lang="en-US" sz="1400" dirty="0"/>
          </a:p>
          <a:p>
            <a:pPr indent="0" marL="0">
              <a:buNone/>
            </a:pPr>
            <a:endParaRPr lang="en-US" sz="1400" dirty="0"/>
          </a:p>
          <a:p>
            <a:pPr indent="0" marL="0">
              <a:buNone/>
            </a:pPr>
            <a:r>
              <a:rPr lang="en-US" sz="1400" i="1" dirty="0">
                <a:solidFill>
                  <a:srgbClr val="FFFFFF"/>
                </a:solidFill>
                <a:latin typeface="Calibri" pitchFamily="34" charset="0"/>
                <a:ea typeface="Calibri" pitchFamily="34" charset="-122"/>
                <a:cs typeface="Calibri" pitchFamily="34" charset="-120"/>
              </a:rPr>
              <a:t>If I needed this, every student, worker, and migrant in Cambodia needs it too.</a:t>
            </a:r>
            <a:endParaRPr lang="en-US" sz="1400" dirty="0"/>
          </a:p>
        </p:txBody>
      </p:sp>
      <p:sp>
        <p:nvSpPr>
          <p:cNvPr id="8" name="Text 6"/>
          <p:cNvSpPr/>
          <p:nvPr/>
        </p:nvSpPr>
        <p:spPr>
          <a:xfrm>
            <a:off x="731520" y="5349240"/>
            <a:ext cx="4937760" cy="365760"/>
          </a:xfrm>
          <a:prstGeom prst="rect">
            <a:avLst/>
          </a:prstGeom>
          <a:noFill/>
          <a:ln/>
        </p:spPr>
        <p:txBody>
          <a:bodyPr wrap="square" lIns="0" tIns="0" rIns="0" bIns="0" rtlCol="0" anchor="ctr"/>
          <a:lstStyle/>
          <a:p>
            <a:pPr indent="0" marL="0">
              <a:buNone/>
            </a:pPr>
            <a:r>
              <a:rPr lang="en-US" sz="1200" b="1" dirty="0">
                <a:solidFill>
                  <a:srgbClr val="CCFBF1"/>
                </a:solidFill>
                <a:latin typeface="Calibri" pitchFamily="34" charset="0"/>
                <a:ea typeface="Calibri" pitchFamily="34" charset="-122"/>
                <a:cs typeface="Calibri" pitchFamily="34" charset="-120"/>
              </a:rPr>
              <a:t>— Bobe, Co-founder</a:t>
            </a:r>
            <a:endParaRPr lang="en-US" sz="1200" dirty="0"/>
          </a:p>
        </p:txBody>
      </p:sp>
      <p:sp>
        <p:nvSpPr>
          <p:cNvPr id="9" name="Shape 7"/>
          <p:cNvSpPr/>
          <p:nvPr/>
        </p:nvSpPr>
        <p:spPr>
          <a:xfrm>
            <a:off x="6217920" y="1691640"/>
            <a:ext cx="5486400" cy="1920240"/>
          </a:xfrm>
          <a:prstGeom prst="rect">
            <a:avLst/>
          </a:prstGeom>
          <a:solidFill>
            <a:srgbClr val="FFFFFF"/>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10" name="Shape 8"/>
          <p:cNvSpPr/>
          <p:nvPr/>
        </p:nvSpPr>
        <p:spPr>
          <a:xfrm>
            <a:off x="6400800" y="2057400"/>
            <a:ext cx="914400" cy="914400"/>
          </a:xfrm>
          <a:prstGeom prst="ellipse">
            <a:avLst/>
          </a:prstGeom>
          <a:solidFill>
            <a:srgbClr val="0F766E"/>
          </a:solidFill>
          <a:ln w="12700">
            <a:solidFill>
              <a:srgbClr val="0F766E"/>
            </a:solidFill>
            <a:prstDash val="solid"/>
          </a:ln>
        </p:spPr>
      </p:sp>
      <p:sp>
        <p:nvSpPr>
          <p:cNvPr id="11" name="Text 9"/>
          <p:cNvSpPr/>
          <p:nvPr/>
        </p:nvSpPr>
        <p:spPr>
          <a:xfrm>
            <a:off x="6400800" y="205740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B</a:t>
            </a:r>
            <a:endParaRPr lang="en-US" sz="3600" dirty="0"/>
          </a:p>
        </p:txBody>
      </p:sp>
      <p:sp>
        <p:nvSpPr>
          <p:cNvPr id="12" name="Text 10"/>
          <p:cNvSpPr/>
          <p:nvPr/>
        </p:nvSpPr>
        <p:spPr>
          <a:xfrm>
            <a:off x="7498080" y="2011680"/>
            <a:ext cx="40233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Bobe</a:t>
            </a:r>
            <a:endParaRPr lang="en-US" sz="1600" dirty="0"/>
          </a:p>
        </p:txBody>
      </p:sp>
      <p:sp>
        <p:nvSpPr>
          <p:cNvPr id="13" name="Text 11"/>
          <p:cNvSpPr/>
          <p:nvPr/>
        </p:nvSpPr>
        <p:spPr>
          <a:xfrm>
            <a:off x="7498080" y="2331720"/>
            <a:ext cx="4023360" cy="274320"/>
          </a:xfrm>
          <a:prstGeom prst="rect">
            <a:avLst/>
          </a:prstGeom>
          <a:noFill/>
          <a:ln/>
        </p:spPr>
        <p:txBody>
          <a:bodyPr wrap="square" lIns="0" tIns="0" rIns="0" bIns="0" rtlCol="0" anchor="ctr"/>
          <a:lstStyle/>
          <a:p>
            <a:pPr indent="0" marL="0">
              <a:buNone/>
            </a:pPr>
            <a:r>
              <a:rPr lang="en-US" sz="1100" i="1" dirty="0">
                <a:solidFill>
                  <a:srgbClr val="0F766E"/>
                </a:solidFill>
                <a:latin typeface="Calibri" pitchFamily="34" charset="0"/>
                <a:ea typeface="Calibri" pitchFamily="34" charset="-122"/>
                <a:cs typeface="Calibri" pitchFamily="34" charset="-120"/>
              </a:rPr>
              <a:t>Co-founder — Business</a:t>
            </a:r>
            <a:endParaRPr lang="en-US" sz="1100" dirty="0"/>
          </a:p>
        </p:txBody>
      </p:sp>
      <p:sp>
        <p:nvSpPr>
          <p:cNvPr id="14" name="Text 12"/>
          <p:cNvSpPr/>
          <p:nvPr/>
        </p:nvSpPr>
        <p:spPr>
          <a:xfrm>
            <a:off x="7498080" y="2651760"/>
            <a:ext cx="4023360" cy="86868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Product scope, go-to-market, landlord outreach, brand, partnerships. Cambodian, based in Phnom Penh, lived the rental problem firsthand.</a:t>
            </a:r>
            <a:endParaRPr lang="en-US" sz="1100" dirty="0"/>
          </a:p>
        </p:txBody>
      </p:sp>
      <p:sp>
        <p:nvSpPr>
          <p:cNvPr id="15" name="Shape 13"/>
          <p:cNvSpPr/>
          <p:nvPr/>
        </p:nvSpPr>
        <p:spPr>
          <a:xfrm>
            <a:off x="6217920" y="3886200"/>
            <a:ext cx="5486400" cy="1920240"/>
          </a:xfrm>
          <a:prstGeom prst="rect">
            <a:avLst/>
          </a:prstGeom>
          <a:solidFill>
            <a:srgbClr val="FFFFFF"/>
          </a:solidFill>
          <a:ln w="12700">
            <a:solidFill>
              <a:srgbClr val="E2E8F0"/>
            </a:solidFill>
            <a:prstDash val="solid"/>
          </a:ln>
          <a:effectLst>
            <a:outerShdw sx="100000" sy="100000" kx="0" ky="0" algn="bl" rotWithShape="0" blurRad="76200" dist="25400" dir="16200000">
              <a:srgbClr val="000000">
                <a:alpha val="8000"/>
              </a:srgbClr>
            </a:outerShdw>
          </a:effectLst>
        </p:spPr>
      </p:sp>
      <p:sp>
        <p:nvSpPr>
          <p:cNvPr id="16" name="Shape 14"/>
          <p:cNvSpPr/>
          <p:nvPr/>
        </p:nvSpPr>
        <p:spPr>
          <a:xfrm>
            <a:off x="6400800" y="4251960"/>
            <a:ext cx="914400" cy="914400"/>
          </a:xfrm>
          <a:prstGeom prst="ellipse">
            <a:avLst/>
          </a:prstGeom>
          <a:solidFill>
            <a:srgbClr val="0F766E"/>
          </a:solidFill>
          <a:ln w="12700">
            <a:solidFill>
              <a:srgbClr val="0F766E"/>
            </a:solidFill>
            <a:prstDash val="solid"/>
          </a:ln>
        </p:spPr>
      </p:sp>
      <p:sp>
        <p:nvSpPr>
          <p:cNvPr id="17" name="Text 15"/>
          <p:cNvSpPr/>
          <p:nvPr/>
        </p:nvSpPr>
        <p:spPr>
          <a:xfrm>
            <a:off x="6400800" y="4251960"/>
            <a:ext cx="914400"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T</a:t>
            </a:r>
            <a:endParaRPr lang="en-US" sz="3600" dirty="0"/>
          </a:p>
        </p:txBody>
      </p:sp>
      <p:sp>
        <p:nvSpPr>
          <p:cNvPr id="18" name="Text 16"/>
          <p:cNvSpPr/>
          <p:nvPr/>
        </p:nvSpPr>
        <p:spPr>
          <a:xfrm>
            <a:off x="7498080" y="4206240"/>
            <a:ext cx="402336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Tech Team</a:t>
            </a:r>
            <a:endParaRPr lang="en-US" sz="1600" dirty="0"/>
          </a:p>
        </p:txBody>
      </p:sp>
      <p:sp>
        <p:nvSpPr>
          <p:cNvPr id="19" name="Text 17"/>
          <p:cNvSpPr/>
          <p:nvPr/>
        </p:nvSpPr>
        <p:spPr>
          <a:xfrm>
            <a:off x="7498080" y="4526280"/>
            <a:ext cx="4023360" cy="274320"/>
          </a:xfrm>
          <a:prstGeom prst="rect">
            <a:avLst/>
          </a:prstGeom>
          <a:noFill/>
          <a:ln/>
        </p:spPr>
        <p:txBody>
          <a:bodyPr wrap="square" lIns="0" tIns="0" rIns="0" bIns="0" rtlCol="0" anchor="ctr"/>
          <a:lstStyle/>
          <a:p>
            <a:pPr indent="0" marL="0">
              <a:buNone/>
            </a:pPr>
            <a:r>
              <a:rPr lang="en-US" sz="1100" i="1" dirty="0">
                <a:solidFill>
                  <a:srgbClr val="0F766E"/>
                </a:solidFill>
                <a:latin typeface="Calibri" pitchFamily="34" charset="0"/>
                <a:ea typeface="Calibri" pitchFamily="34" charset="-122"/>
                <a:cs typeface="Calibri" pitchFamily="34" charset="-120"/>
              </a:rPr>
              <a:t>Co-founder — Engineering</a:t>
            </a:r>
            <a:endParaRPr lang="en-US" sz="1100" dirty="0"/>
          </a:p>
        </p:txBody>
      </p:sp>
      <p:sp>
        <p:nvSpPr>
          <p:cNvPr id="20" name="Text 18"/>
          <p:cNvSpPr/>
          <p:nvPr/>
        </p:nvSpPr>
        <p:spPr>
          <a:xfrm>
            <a:off x="7498080" y="4846320"/>
            <a:ext cx="4023360" cy="86868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Built the full working prototype: Next.js + Firebase, 16 screens, Khmer/English UI, mobile-first design. Currently expanding for production launch.</a:t>
            </a:r>
            <a:endParaRPr lang="en-US" sz="1100" dirty="0"/>
          </a:p>
        </p:txBody>
      </p:sp>
      <p:sp>
        <p:nvSpPr>
          <p:cNvPr id="21" name="Text 19"/>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22" name="Text 20"/>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73152" cy="502920"/>
          </a:xfrm>
          <a:prstGeom prst="rect">
            <a:avLst/>
          </a:prstGeom>
          <a:solidFill>
            <a:srgbClr val="0F766E"/>
          </a:solidFill>
          <a:ln w="12700">
            <a:solidFill>
              <a:srgbClr val="0F766E"/>
            </a:solidFill>
            <a:prstDash val="solid"/>
          </a:ln>
        </p:spPr>
      </p:sp>
      <p:sp>
        <p:nvSpPr>
          <p:cNvPr id="3" name="Text 1"/>
          <p:cNvSpPr/>
          <p:nvPr/>
        </p:nvSpPr>
        <p:spPr>
          <a:xfrm>
            <a:off x="640080" y="411480"/>
            <a:ext cx="10972800" cy="68580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What this grant enables.</a:t>
            </a:r>
            <a:endParaRPr lang="en-US" sz="3200" dirty="0"/>
          </a:p>
        </p:txBody>
      </p:sp>
      <p:sp>
        <p:nvSpPr>
          <p:cNvPr id="4" name="Text 2"/>
          <p:cNvSpPr/>
          <p:nvPr/>
        </p:nvSpPr>
        <p:spPr>
          <a:xfrm>
            <a:off x="640080" y="1051560"/>
            <a:ext cx="10972800" cy="320040"/>
          </a:xfrm>
          <a:prstGeom prst="rect">
            <a:avLst/>
          </a:prstGeom>
          <a:noFill/>
          <a:ln/>
        </p:spPr>
        <p:txBody>
          <a:bodyPr wrap="square" lIns="0" tIns="0" rIns="0" bIns="0" rtlCol="0" anchor="t"/>
          <a:lstStyle/>
          <a:p>
            <a:pPr indent="0" marL="0">
              <a:buNone/>
            </a:pPr>
            <a:r>
              <a:rPr lang="en-US" sz="1400" i="1" dirty="0">
                <a:solidFill>
                  <a:srgbClr val="64748B"/>
                </a:solidFill>
                <a:latin typeface="Calibri" pitchFamily="34" charset="0"/>
                <a:ea typeface="Calibri" pitchFamily="34" charset="-122"/>
                <a:cs typeface="Calibri" pitchFamily="34" charset="-120"/>
              </a:rPr>
              <a:t>Every dollar maps to a launch deliverable in our 8-week plan. Total ask: $10,000 USD.</a:t>
            </a:r>
            <a:endParaRPr lang="en-US" sz="1400" dirty="0"/>
          </a:p>
        </p:txBody>
      </p:sp>
      <p:graphicFrame>
        <p:nvGraphicFramePr>
          <p:cNvPr id="5" name="Chart 0" descr=""/>
          <p:cNvGraphicFramePr/>
          <p:nvPr/>
        </p:nvGraphicFramePr>
        <p:xfrm>
          <a:off x="457200" y="1691640"/>
          <a:ext cx="5029200" cy="4389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760720" y="1691640"/>
            <a:ext cx="1280160" cy="36576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$2,500</a:t>
            </a:r>
            <a:endParaRPr lang="en-US" sz="1600" dirty="0"/>
          </a:p>
        </p:txBody>
      </p:sp>
      <p:sp>
        <p:nvSpPr>
          <p:cNvPr id="7" name="Text 4"/>
          <p:cNvSpPr/>
          <p:nvPr/>
        </p:nvSpPr>
        <p:spPr>
          <a:xfrm>
            <a:off x="7040880" y="1691640"/>
            <a:ext cx="466344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Marketing &amp; outreach</a:t>
            </a:r>
            <a:endParaRPr lang="en-US" sz="1300" dirty="0"/>
          </a:p>
        </p:txBody>
      </p:sp>
      <p:sp>
        <p:nvSpPr>
          <p:cNvPr id="8" name="Text 5"/>
          <p:cNvSpPr/>
          <p:nvPr/>
        </p:nvSpPr>
        <p:spPr>
          <a:xfrm>
            <a:off x="7040880" y="2039112"/>
            <a:ext cx="4663440"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Targeted Facebook ads to Phnom Penh students, printed cards and flyers, university partnerships.</a:t>
            </a:r>
            <a:endParaRPr lang="en-US" sz="1000" dirty="0"/>
          </a:p>
        </p:txBody>
      </p:sp>
      <p:sp>
        <p:nvSpPr>
          <p:cNvPr id="9" name="Text 6"/>
          <p:cNvSpPr/>
          <p:nvPr/>
        </p:nvSpPr>
        <p:spPr>
          <a:xfrm>
            <a:off x="5760720" y="2569464"/>
            <a:ext cx="1280160" cy="36576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$4,000</a:t>
            </a:r>
            <a:endParaRPr lang="en-US" sz="1600" dirty="0"/>
          </a:p>
        </p:txBody>
      </p:sp>
      <p:sp>
        <p:nvSpPr>
          <p:cNvPr id="10" name="Text 7"/>
          <p:cNvSpPr/>
          <p:nvPr/>
        </p:nvSpPr>
        <p:spPr>
          <a:xfrm>
            <a:off x="7040880" y="2569464"/>
            <a:ext cx="466344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Backend engineer</a:t>
            </a:r>
            <a:endParaRPr lang="en-US" sz="1300" dirty="0"/>
          </a:p>
        </p:txBody>
      </p:sp>
      <p:sp>
        <p:nvSpPr>
          <p:cNvPr id="11" name="Text 8"/>
          <p:cNvSpPr/>
          <p:nvPr/>
        </p:nvSpPr>
        <p:spPr>
          <a:xfrm>
            <a:off x="7040880" y="2916936"/>
            <a:ext cx="4663440"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3-month part-time hire to harden Firebase backend, security rules, and image handling for production scale.</a:t>
            </a:r>
            <a:endParaRPr lang="en-US" sz="1000" dirty="0"/>
          </a:p>
        </p:txBody>
      </p:sp>
      <p:sp>
        <p:nvSpPr>
          <p:cNvPr id="12" name="Text 9"/>
          <p:cNvSpPr/>
          <p:nvPr/>
        </p:nvSpPr>
        <p:spPr>
          <a:xfrm>
            <a:off x="5760720" y="3447288"/>
            <a:ext cx="1280160" cy="36576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$1,500</a:t>
            </a:r>
            <a:endParaRPr lang="en-US" sz="1600" dirty="0"/>
          </a:p>
        </p:txBody>
      </p:sp>
      <p:sp>
        <p:nvSpPr>
          <p:cNvPr id="13" name="Text 10"/>
          <p:cNvSpPr/>
          <p:nvPr/>
        </p:nvSpPr>
        <p:spPr>
          <a:xfrm>
            <a:off x="7040880" y="3447288"/>
            <a:ext cx="466344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Legal &amp; compliance</a:t>
            </a:r>
            <a:endParaRPr lang="en-US" sz="1300" dirty="0"/>
          </a:p>
        </p:txBody>
      </p:sp>
      <p:sp>
        <p:nvSpPr>
          <p:cNvPr id="14" name="Text 11"/>
          <p:cNvSpPr/>
          <p:nvPr/>
        </p:nvSpPr>
        <p:spPr>
          <a:xfrm>
            <a:off x="7040880" y="3794760"/>
            <a:ext cx="4663440"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Local Cambodian lawyer review of Terms of Service and Privacy Policy; company registration.</a:t>
            </a:r>
            <a:endParaRPr lang="en-US" sz="1000" dirty="0"/>
          </a:p>
        </p:txBody>
      </p:sp>
      <p:sp>
        <p:nvSpPr>
          <p:cNvPr id="15" name="Text 12"/>
          <p:cNvSpPr/>
          <p:nvPr/>
        </p:nvSpPr>
        <p:spPr>
          <a:xfrm>
            <a:off x="5760720" y="4325112"/>
            <a:ext cx="1280160" cy="36576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$1,000</a:t>
            </a:r>
            <a:endParaRPr lang="en-US" sz="1600" dirty="0"/>
          </a:p>
        </p:txBody>
      </p:sp>
      <p:sp>
        <p:nvSpPr>
          <p:cNvPr id="16" name="Text 13"/>
          <p:cNvSpPr/>
          <p:nvPr/>
        </p:nvSpPr>
        <p:spPr>
          <a:xfrm>
            <a:off x="7040880" y="4325112"/>
            <a:ext cx="466344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Infrastructure</a:t>
            </a:r>
            <a:endParaRPr lang="en-US" sz="1300" dirty="0"/>
          </a:p>
        </p:txBody>
      </p:sp>
      <p:sp>
        <p:nvSpPr>
          <p:cNvPr id="17" name="Text 14"/>
          <p:cNvSpPr/>
          <p:nvPr/>
        </p:nvSpPr>
        <p:spPr>
          <a:xfrm>
            <a:off x="7040880" y="4672584"/>
            <a:ext cx="4663440"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Domain (.kh), Firebase Blaze plan overflow, error monitoring, daily backups for the first year.</a:t>
            </a:r>
            <a:endParaRPr lang="en-US" sz="1000" dirty="0"/>
          </a:p>
        </p:txBody>
      </p:sp>
      <p:sp>
        <p:nvSpPr>
          <p:cNvPr id="18" name="Text 15"/>
          <p:cNvSpPr/>
          <p:nvPr/>
        </p:nvSpPr>
        <p:spPr>
          <a:xfrm>
            <a:off x="5760720" y="5202936"/>
            <a:ext cx="1280160" cy="365760"/>
          </a:xfrm>
          <a:prstGeom prst="rect">
            <a:avLst/>
          </a:prstGeom>
          <a:noFill/>
          <a:ln/>
        </p:spPr>
        <p:txBody>
          <a:bodyPr wrap="square" lIns="0" tIns="0" rIns="0" bIns="0"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$1,000</a:t>
            </a:r>
            <a:endParaRPr lang="en-US" sz="1600" dirty="0"/>
          </a:p>
        </p:txBody>
      </p:sp>
      <p:sp>
        <p:nvSpPr>
          <p:cNvPr id="19" name="Text 16"/>
          <p:cNvSpPr/>
          <p:nvPr/>
        </p:nvSpPr>
        <p:spPr>
          <a:xfrm>
            <a:off x="7040880" y="5202936"/>
            <a:ext cx="4663440"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Operations &amp; contingency</a:t>
            </a:r>
            <a:endParaRPr lang="en-US" sz="1300" dirty="0"/>
          </a:p>
        </p:txBody>
      </p:sp>
      <p:sp>
        <p:nvSpPr>
          <p:cNvPr id="20" name="Text 17"/>
          <p:cNvSpPr/>
          <p:nvPr/>
        </p:nvSpPr>
        <p:spPr>
          <a:xfrm>
            <a:off x="7040880" y="5550408"/>
            <a:ext cx="4663440"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Transportation for door-to-door landlord outreach, communication costs, 10% buffer.</a:t>
            </a:r>
            <a:endParaRPr lang="en-US" sz="1000" dirty="0"/>
          </a:p>
        </p:txBody>
      </p:sp>
      <p:sp>
        <p:nvSpPr>
          <p:cNvPr id="21" name="Text 18"/>
          <p:cNvSpPr/>
          <p:nvPr/>
        </p:nvSpPr>
        <p:spPr>
          <a:xfrm>
            <a:off x="457200" y="6492240"/>
            <a:ext cx="1828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Joul</a:t>
            </a:r>
            <a:endParaRPr lang="en-US" sz="900" dirty="0"/>
          </a:p>
        </p:txBody>
      </p:sp>
      <p:sp>
        <p:nvSpPr>
          <p:cNvPr id="22" name="Text 19"/>
          <p:cNvSpPr/>
          <p:nvPr/>
        </p:nvSpPr>
        <p:spPr>
          <a:xfrm>
            <a:off x="10332720" y="6492240"/>
            <a:ext cx="1371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5E59"/>
        </a:solidFill>
      </p:bgPr>
    </p:bg>
    <p:spTree>
      <p:nvGrpSpPr>
        <p:cNvPr id="1" name=""/>
        <p:cNvGrpSpPr/>
        <p:nvPr/>
      </p:nvGrpSpPr>
      <p:grpSpPr>
        <a:xfrm>
          <a:off x="0" y="0"/>
          <a:ext cx="0" cy="0"/>
          <a:chOff x="0" y="0"/>
          <a:chExt cx="0" cy="0"/>
        </a:xfrm>
      </p:grpSpPr>
      <p:sp>
        <p:nvSpPr>
          <p:cNvPr id="2" name="Shape 0"/>
          <p:cNvSpPr/>
          <p:nvPr/>
        </p:nvSpPr>
        <p:spPr>
          <a:xfrm>
            <a:off x="640080" y="914400"/>
            <a:ext cx="3657600" cy="0"/>
          </a:xfrm>
          <a:prstGeom prst="line">
            <a:avLst/>
          </a:prstGeom>
          <a:noFill/>
          <a:ln w="25400">
            <a:solidFill>
              <a:srgbClr val="F59E0B"/>
            </a:solidFill>
            <a:prstDash val="solid"/>
          </a:ln>
        </p:spPr>
      </p:sp>
      <p:sp>
        <p:nvSpPr>
          <p:cNvPr id="3" name="Text 1"/>
          <p:cNvSpPr/>
          <p:nvPr/>
        </p:nvSpPr>
        <p:spPr>
          <a:xfrm>
            <a:off x="640080" y="1005840"/>
            <a:ext cx="7315200" cy="365760"/>
          </a:xfrm>
          <a:prstGeom prst="rect">
            <a:avLst/>
          </a:prstGeom>
          <a:noFill/>
          <a:ln/>
        </p:spPr>
        <p:txBody>
          <a:bodyPr wrap="square" lIns="0" tIns="0" rIns="0" bIns="0" rtlCol="0" anchor="ctr"/>
          <a:lstStyle/>
          <a:p>
            <a:pPr indent="0" marL="0">
              <a:buNone/>
            </a:pPr>
            <a:r>
              <a:rPr lang="en-US" sz="1100" b="1" spc="500" kern="0" dirty="0">
                <a:solidFill>
                  <a:srgbClr val="F59E0B"/>
                </a:solidFill>
                <a:latin typeface="Calibri" pitchFamily="34" charset="0"/>
                <a:ea typeface="Calibri" pitchFamily="34" charset="-122"/>
                <a:cs typeface="Calibri" pitchFamily="34" charset="-120"/>
              </a:rPr>
              <a:t>OUR VISION</a:t>
            </a:r>
            <a:endParaRPr lang="en-US" sz="1100" dirty="0"/>
          </a:p>
        </p:txBody>
      </p:sp>
      <p:sp>
        <p:nvSpPr>
          <p:cNvPr id="4" name="Text 2"/>
          <p:cNvSpPr/>
          <p:nvPr/>
        </p:nvSpPr>
        <p:spPr>
          <a:xfrm>
            <a:off x="640080" y="1554480"/>
            <a:ext cx="1097280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To become the rental operating system for Cambodia.</a:t>
            </a:r>
            <a:endParaRPr lang="en-US" sz="4000" dirty="0"/>
          </a:p>
        </p:txBody>
      </p:sp>
      <p:sp>
        <p:nvSpPr>
          <p:cNvPr id="5" name="Text 3"/>
          <p:cNvSpPr/>
          <p:nvPr/>
        </p:nvSpPr>
        <p:spPr>
          <a:xfrm>
            <a:off x="640080" y="2926080"/>
            <a:ext cx="10972800" cy="1280160"/>
          </a:xfrm>
          <a:prstGeom prst="rect">
            <a:avLst/>
          </a:prstGeom>
          <a:noFill/>
          <a:ln/>
        </p:spPr>
        <p:txBody>
          <a:bodyPr wrap="square" lIns="0" tIns="0" rIns="0" bIns="0" rtlCol="0" anchor="t"/>
          <a:lstStyle/>
          <a:p>
            <a:pPr indent="0" marL="0">
              <a:buNone/>
            </a:pPr>
            <a:r>
              <a:rPr lang="en-US" sz="1600" dirty="0">
                <a:solidFill>
                  <a:srgbClr val="CCFBF1"/>
                </a:solidFill>
                <a:latin typeface="Calibri" pitchFamily="34" charset="0"/>
                <a:ea typeface="Calibri" pitchFamily="34" charset="-122"/>
                <a:cs typeface="Calibri" pitchFamily="34" charset="-120"/>
              </a:rPr>
              <a:t>Within 5 years, every step of the Cambodian rental lifecycle runs through Joul — finding, listing, contracting, paying, managing. Beyond Cambodia, the same model applies in Laos, Myanmar, and Vietnam.</a:t>
            </a:r>
            <a:endParaRPr lang="en-US" sz="1600" dirty="0"/>
          </a:p>
        </p:txBody>
      </p:sp>
      <p:sp>
        <p:nvSpPr>
          <p:cNvPr id="6" name="Shape 4"/>
          <p:cNvSpPr/>
          <p:nvPr/>
        </p:nvSpPr>
        <p:spPr>
          <a:xfrm>
            <a:off x="640080" y="4389120"/>
            <a:ext cx="10972800" cy="1554480"/>
          </a:xfrm>
          <a:prstGeom prst="rect">
            <a:avLst/>
          </a:prstGeom>
          <a:solidFill>
            <a:srgbClr val="FFFFFF"/>
          </a:solidFill>
          <a:ln w="12700">
            <a:solidFill>
              <a:srgbClr val="FFFFFF"/>
            </a:solidFill>
            <a:prstDash val="solid"/>
          </a:ln>
        </p:spPr>
      </p:sp>
      <p:sp>
        <p:nvSpPr>
          <p:cNvPr id="7" name="Text 5"/>
          <p:cNvSpPr/>
          <p:nvPr/>
        </p:nvSpPr>
        <p:spPr>
          <a:xfrm>
            <a:off x="914400" y="4526280"/>
            <a:ext cx="4572000" cy="320040"/>
          </a:xfrm>
          <a:prstGeom prst="rect">
            <a:avLst/>
          </a:prstGeom>
          <a:noFill/>
          <a:ln/>
        </p:spPr>
        <p:txBody>
          <a:bodyPr wrap="square" lIns="0" tIns="0" rIns="0" bIns="0" rtlCol="0" anchor="ctr"/>
          <a:lstStyle/>
          <a:p>
            <a:pPr indent="0" marL="0">
              <a:buNone/>
            </a:pPr>
            <a:r>
              <a:rPr lang="en-US" sz="1100" b="1" spc="500" kern="0" dirty="0">
                <a:solidFill>
                  <a:srgbClr val="0F766E"/>
                </a:solidFill>
                <a:latin typeface="Calibri" pitchFamily="34" charset="0"/>
                <a:ea typeface="Calibri" pitchFamily="34" charset="-122"/>
                <a:cs typeface="Calibri" pitchFamily="34" charset="-120"/>
              </a:rPr>
              <a:t>THE ASK</a:t>
            </a:r>
            <a:endParaRPr lang="en-US" sz="1100" dirty="0"/>
          </a:p>
        </p:txBody>
      </p:sp>
      <p:sp>
        <p:nvSpPr>
          <p:cNvPr id="8" name="Text 6"/>
          <p:cNvSpPr/>
          <p:nvPr/>
        </p:nvSpPr>
        <p:spPr>
          <a:xfrm>
            <a:off x="914400" y="4846320"/>
            <a:ext cx="4114800" cy="822960"/>
          </a:xfrm>
          <a:prstGeom prst="rect">
            <a:avLst/>
          </a:prstGeom>
          <a:noFill/>
          <a:ln/>
        </p:spPr>
        <p:txBody>
          <a:bodyPr wrap="square" lIns="0" tIns="0" rIns="0" bIns="0" rtlCol="0" anchor="ctr"/>
          <a:lstStyle/>
          <a:p>
            <a:pPr indent="0" marL="0">
              <a:buNone/>
            </a:pPr>
            <a:r>
              <a:rPr lang="en-US" sz="4800" b="1" dirty="0">
                <a:solidFill>
                  <a:srgbClr val="0F172A"/>
                </a:solidFill>
                <a:latin typeface="Calibri" pitchFamily="34" charset="0"/>
                <a:ea typeface="Calibri" pitchFamily="34" charset="-122"/>
                <a:cs typeface="Calibri" pitchFamily="34" charset="-120"/>
              </a:rPr>
              <a:t>$10,000</a:t>
            </a:r>
            <a:endParaRPr lang="en-US" sz="4800" dirty="0"/>
          </a:p>
        </p:txBody>
      </p:sp>
      <p:sp>
        <p:nvSpPr>
          <p:cNvPr id="9" name="Text 7"/>
          <p:cNvSpPr/>
          <p:nvPr/>
        </p:nvSpPr>
        <p:spPr>
          <a:xfrm>
            <a:off x="5029200" y="4572000"/>
            <a:ext cx="6400800" cy="118872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Non-dilutive grant funding to support the 8-week pre-launch push, a critical part-time engineering hire, and the first 90 days of operation post-launch.</a:t>
            </a:r>
            <a:endParaRPr lang="en-US" sz="1300" dirty="0"/>
          </a:p>
        </p:txBody>
      </p:sp>
      <p:sp>
        <p:nvSpPr>
          <p:cNvPr id="10" name="Text 8"/>
          <p:cNvSpPr/>
          <p:nvPr/>
        </p:nvSpPr>
        <p:spPr>
          <a:xfrm>
            <a:off x="640080" y="6263640"/>
            <a:ext cx="10972800" cy="320040"/>
          </a:xfrm>
          <a:prstGeom prst="rect">
            <a:avLst/>
          </a:prstGeom>
          <a:noFill/>
          <a:ln/>
        </p:spPr>
        <p:txBody>
          <a:bodyPr wrap="square" lIns="0" tIns="0" rIns="0" bIns="0" rtlCol="0" anchor="ctr"/>
          <a:lstStyle/>
          <a:p>
            <a:pPr algn="ctr" indent="0" marL="0">
              <a:buNone/>
            </a:pPr>
            <a:r>
              <a:rPr lang="en-US" sz="1100" dirty="0">
                <a:solidFill>
                  <a:srgbClr val="CCFBF1"/>
                </a:solidFill>
                <a:latin typeface="Calibri" pitchFamily="34" charset="0"/>
                <a:ea typeface="Calibri" pitchFamily="34" charset="-122"/>
                <a:cs typeface="Calibri" pitchFamily="34" charset="-120"/>
              </a:rPr>
              <a:t>Contact: [your name] · [your email] · [your phone] · joul.kh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Joul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Joul - Cambodia's Room Rental, Simplified</dc:title>
  <dc:subject>PptxGenJS Presentation</dc:subject>
  <dc:creator>Joul Team</dc:creator>
  <cp:lastModifiedBy>Joul Team</cp:lastModifiedBy>
  <cp:revision>1</cp:revision>
  <dcterms:created xsi:type="dcterms:W3CDTF">2026-05-29T09:55:00Z</dcterms:created>
  <dcterms:modified xsi:type="dcterms:W3CDTF">2026-05-29T09:55:00Z</dcterms:modified>
</cp:coreProperties>
</file>